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83"/>
  </p:notesMasterIdLst>
  <p:sldIdLst>
    <p:sldId id="381" r:id="rId5"/>
    <p:sldId id="380" r:id="rId6"/>
    <p:sldId id="302" r:id="rId7"/>
    <p:sldId id="319" r:id="rId8"/>
    <p:sldId id="262" r:id="rId9"/>
    <p:sldId id="342" r:id="rId10"/>
    <p:sldId id="343" r:id="rId11"/>
    <p:sldId id="355" r:id="rId12"/>
    <p:sldId id="305" r:id="rId13"/>
    <p:sldId id="360" r:id="rId14"/>
    <p:sldId id="306" r:id="rId15"/>
    <p:sldId id="321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6" r:id="rId25"/>
    <p:sldId id="315" r:id="rId26"/>
    <p:sldId id="317" r:id="rId27"/>
    <p:sldId id="318" r:id="rId28"/>
    <p:sldId id="379" r:id="rId29"/>
    <p:sldId id="338" r:id="rId30"/>
    <p:sldId id="283" r:id="rId31"/>
    <p:sldId id="331" r:id="rId32"/>
    <p:sldId id="303" r:id="rId33"/>
    <p:sldId id="304" r:id="rId34"/>
    <p:sldId id="369" r:id="rId35"/>
    <p:sldId id="325" r:id="rId36"/>
    <p:sldId id="344" r:id="rId37"/>
    <p:sldId id="326" r:id="rId38"/>
    <p:sldId id="361" r:id="rId39"/>
    <p:sldId id="367" r:id="rId40"/>
    <p:sldId id="368" r:id="rId41"/>
    <p:sldId id="322" r:id="rId42"/>
    <p:sldId id="333" r:id="rId43"/>
    <p:sldId id="349" r:id="rId44"/>
    <p:sldId id="370" r:id="rId45"/>
    <p:sldId id="323" r:id="rId46"/>
    <p:sldId id="350" r:id="rId47"/>
    <p:sldId id="334" r:id="rId48"/>
    <p:sldId id="351" r:id="rId49"/>
    <p:sldId id="352" r:id="rId50"/>
    <p:sldId id="353" r:id="rId51"/>
    <p:sldId id="354" r:id="rId52"/>
    <p:sldId id="324" r:id="rId53"/>
    <p:sldId id="335" r:id="rId54"/>
    <p:sldId id="356" r:id="rId55"/>
    <p:sldId id="357" r:id="rId56"/>
    <p:sldId id="336" r:id="rId57"/>
    <p:sldId id="358" r:id="rId58"/>
    <p:sldId id="359" r:id="rId59"/>
    <p:sldId id="366" r:id="rId60"/>
    <p:sldId id="327" r:id="rId61"/>
    <p:sldId id="362" r:id="rId62"/>
    <p:sldId id="371" r:id="rId63"/>
    <p:sldId id="372" r:id="rId64"/>
    <p:sldId id="328" r:id="rId65"/>
    <p:sldId id="363" r:id="rId66"/>
    <p:sldId id="373" r:id="rId67"/>
    <p:sldId id="374" r:id="rId68"/>
    <p:sldId id="329" r:id="rId69"/>
    <p:sldId id="364" r:id="rId70"/>
    <p:sldId id="375" r:id="rId71"/>
    <p:sldId id="376" r:id="rId72"/>
    <p:sldId id="377" r:id="rId73"/>
    <p:sldId id="330" r:id="rId74"/>
    <p:sldId id="365" r:id="rId75"/>
    <p:sldId id="378" r:id="rId76"/>
    <p:sldId id="332" r:id="rId77"/>
    <p:sldId id="341" r:id="rId78"/>
    <p:sldId id="339" r:id="rId79"/>
    <p:sldId id="340" r:id="rId80"/>
    <p:sldId id="347" r:id="rId81"/>
    <p:sldId id="348" r:id="rId82"/>
  </p:sldIdLst>
  <p:sldSz cx="12192000" cy="6858000"/>
  <p:notesSz cx="6858000" cy="9144000"/>
  <p:embeddedFontLst>
    <p:embeddedFont>
      <p:font typeface="Century Gothic" panose="020B0502020202020204" pitchFamily="34" charset="0"/>
      <p:regular r:id="rId84"/>
      <p:bold r:id="rId85"/>
      <p:italic r:id="rId86"/>
      <p:boldItalic r:id="rId87"/>
    </p:embeddedFont>
    <p:embeddedFont>
      <p:font typeface="Daytona Light" panose="020B0304030503040204" pitchFamily="34" charset="0"/>
      <p:regular r:id="rId88"/>
      <p:italic r:id="rId89"/>
    </p:embeddedFont>
    <p:embeddedFont>
      <p:font typeface="Helvetica" panose="020B0604020202020204" pitchFamily="34" charset="0"/>
      <p:regular r:id="rId90"/>
      <p:bold r:id="rId91"/>
      <p:italic r:id="rId92"/>
      <p:boldItalic r:id="rId93"/>
    </p:embeddedFont>
    <p:embeddedFont>
      <p:font typeface="roboto" panose="02000000000000000000" pitchFamily="2" charset="0"/>
      <p:regular r:id="rId94"/>
      <p:bold r:id="rId95"/>
      <p:italic r:id="rId96"/>
      <p:boldItalic r:id="rId97"/>
    </p:embeddedFont>
    <p:embeddedFont>
      <p:font typeface="Segoe UI" panose="020B0502040204020203" pitchFamily="34" charset="0"/>
      <p:regular r:id="rId98"/>
      <p:bold r:id="rId99"/>
      <p:italic r:id="rId100"/>
      <p:boldItalic r:id="rId101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4C291C-4C0B-4AA0-B003-C6C25442A5E7}">
          <p14:sldIdLst>
            <p14:sldId id="381"/>
            <p14:sldId id="380"/>
            <p14:sldId id="302"/>
            <p14:sldId id="319"/>
            <p14:sldId id="262"/>
            <p14:sldId id="342"/>
            <p14:sldId id="343"/>
            <p14:sldId id="355"/>
            <p14:sldId id="305"/>
            <p14:sldId id="360"/>
            <p14:sldId id="306"/>
            <p14:sldId id="321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6"/>
            <p14:sldId id="315"/>
            <p14:sldId id="317"/>
            <p14:sldId id="318"/>
            <p14:sldId id="379"/>
            <p14:sldId id="338"/>
            <p14:sldId id="283"/>
            <p14:sldId id="331"/>
            <p14:sldId id="303"/>
            <p14:sldId id="304"/>
            <p14:sldId id="369"/>
            <p14:sldId id="325"/>
            <p14:sldId id="344"/>
            <p14:sldId id="326"/>
            <p14:sldId id="361"/>
            <p14:sldId id="367"/>
            <p14:sldId id="368"/>
            <p14:sldId id="322"/>
            <p14:sldId id="333"/>
            <p14:sldId id="349"/>
            <p14:sldId id="370"/>
            <p14:sldId id="323"/>
            <p14:sldId id="350"/>
            <p14:sldId id="334"/>
            <p14:sldId id="351"/>
            <p14:sldId id="352"/>
            <p14:sldId id="353"/>
            <p14:sldId id="354"/>
            <p14:sldId id="324"/>
            <p14:sldId id="335"/>
            <p14:sldId id="356"/>
            <p14:sldId id="357"/>
            <p14:sldId id="336"/>
            <p14:sldId id="358"/>
            <p14:sldId id="359"/>
            <p14:sldId id="366"/>
            <p14:sldId id="327"/>
            <p14:sldId id="362"/>
            <p14:sldId id="371"/>
            <p14:sldId id="372"/>
            <p14:sldId id="328"/>
            <p14:sldId id="363"/>
            <p14:sldId id="373"/>
            <p14:sldId id="374"/>
            <p14:sldId id="329"/>
            <p14:sldId id="364"/>
            <p14:sldId id="375"/>
            <p14:sldId id="376"/>
            <p14:sldId id="377"/>
            <p14:sldId id="330"/>
            <p14:sldId id="365"/>
            <p14:sldId id="378"/>
            <p14:sldId id="332"/>
            <p14:sldId id="341"/>
            <p14:sldId id="339"/>
            <p14:sldId id="340"/>
            <p14:sldId id="347"/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édric Schaffter" initials="CS" lastIdx="1" clrIdx="0">
    <p:extLst>
      <p:ext uri="{19B8F6BF-5375-455C-9EA6-DF929625EA0E}">
        <p15:presenceInfo xmlns:p15="http://schemas.microsoft.com/office/powerpoint/2012/main" userId="S::px53yvq@eduvaud.ch::553b4a19-b3bd-4c85-8b03-e3da8d2d0e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0000"/>
    <a:srgbClr val="AD2B33"/>
    <a:srgbClr val="333333"/>
    <a:srgbClr val="004595"/>
    <a:srgbClr val="F5F7FA"/>
    <a:srgbClr val="66AEDD"/>
    <a:srgbClr val="EDEDED"/>
    <a:srgbClr val="CCFFFF"/>
    <a:srgbClr val="FFFFFF"/>
    <a:srgbClr val="B567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D30FAB-5556-402E-9A84-5A5DF07B323F}" v="40" dt="2026-01-16T11:30:00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062" autoAdjust="0"/>
  </p:normalViewPr>
  <p:slideViewPr>
    <p:cSldViewPr snapToGrid="0">
      <p:cViewPr varScale="1">
        <p:scale>
          <a:sx n="92" d="100"/>
          <a:sy n="92" d="100"/>
        </p:scale>
        <p:origin x="12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1.fntdata"/><Relationship Id="rId89" Type="http://schemas.openxmlformats.org/officeDocument/2006/relationships/font" Target="fonts/font6.fntdata"/><Relationship Id="rId16" Type="http://schemas.openxmlformats.org/officeDocument/2006/relationships/slide" Target="slides/slide12.xml"/><Relationship Id="rId107" Type="http://schemas.microsoft.com/office/2016/11/relationships/changesInfo" Target="changesInfos/changesInfo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commentAuthors" Target="commentAuthors.xml"/><Relationship Id="rId5" Type="http://schemas.openxmlformats.org/officeDocument/2006/relationships/slide" Target="slides/slide1.xml"/><Relationship Id="rId90" Type="http://schemas.openxmlformats.org/officeDocument/2006/relationships/font" Target="fonts/font7.fntdata"/><Relationship Id="rId95" Type="http://schemas.openxmlformats.org/officeDocument/2006/relationships/font" Target="fonts/font12.fntdata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font" Target="fonts/font2.fntdata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notesMaster" Target="notesMasters/notesMaster1.xml"/><Relationship Id="rId88" Type="http://schemas.openxmlformats.org/officeDocument/2006/relationships/font" Target="fonts/font5.fntdata"/><Relationship Id="rId91" Type="http://schemas.openxmlformats.org/officeDocument/2006/relationships/font" Target="fonts/font8.fntdata"/><Relationship Id="rId96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font" Target="fonts/font3.fntdata"/><Relationship Id="rId94" Type="http://schemas.openxmlformats.org/officeDocument/2006/relationships/font" Target="fonts/font11.fntdata"/><Relationship Id="rId99" Type="http://schemas.openxmlformats.org/officeDocument/2006/relationships/font" Target="fonts/font16.fntdata"/><Relationship Id="rId101" Type="http://schemas.openxmlformats.org/officeDocument/2006/relationships/font" Target="fonts/font1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font" Target="fonts/font14.fntdata"/><Relationship Id="rId104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font" Target="fonts/font9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4.fntdata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font" Target="fonts/font17.fntdata"/><Relationship Id="rId105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font" Target="fonts/font10.fntdata"/><Relationship Id="rId98" Type="http://schemas.openxmlformats.org/officeDocument/2006/relationships/font" Target="fonts/font15.fntdata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in Rosay" userId="d562565c-1457-4874-adac-2143cb9aa9a7" providerId="ADAL" clId="{ACF5C8D2-166E-4403-8003-0EF35400E61F}"/>
    <pc:docChg chg="undo custSel modSld sldOrd">
      <pc:chgData name="Romain Rosay" userId="d562565c-1457-4874-adac-2143cb9aa9a7" providerId="ADAL" clId="{ACF5C8D2-166E-4403-8003-0EF35400E61F}" dt="2026-01-16T11:30:01.826" v="286" actId="27636"/>
      <pc:docMkLst>
        <pc:docMk/>
      </pc:docMkLst>
      <pc:sldChg chg="modSp mod modNotesTx">
        <pc:chgData name="Romain Rosay" userId="d562565c-1457-4874-adac-2143cb9aa9a7" providerId="ADAL" clId="{ACF5C8D2-166E-4403-8003-0EF35400E61F}" dt="2026-01-16T11:02:20.123" v="177" actId="20577"/>
        <pc:sldMkLst>
          <pc:docMk/>
          <pc:sldMk cId="1132419961" sldId="307"/>
        </pc:sldMkLst>
        <pc:spChg chg="mod">
          <ac:chgData name="Romain Rosay" userId="d562565c-1457-4874-adac-2143cb9aa9a7" providerId="ADAL" clId="{ACF5C8D2-166E-4403-8003-0EF35400E61F}" dt="2026-01-16T10:17:11.637" v="18" actId="20577"/>
          <ac:spMkLst>
            <pc:docMk/>
            <pc:sldMk cId="1132419961" sldId="307"/>
            <ac:spMk id="2" creationId="{6E891AC1-7757-84E9-A4B6-A3DAC9873AC8}"/>
          </ac:spMkLst>
        </pc:spChg>
        <pc:spChg chg="mod">
          <ac:chgData name="Romain Rosay" userId="d562565c-1457-4874-adac-2143cb9aa9a7" providerId="ADAL" clId="{ACF5C8D2-166E-4403-8003-0EF35400E61F}" dt="2026-01-16T10:26:40.875" v="172" actId="27636"/>
          <ac:spMkLst>
            <pc:docMk/>
            <pc:sldMk cId="1132419961" sldId="307"/>
            <ac:spMk id="3" creationId="{942E22A4-A7C2-811E-10FB-FA0F6AF6712F}"/>
          </ac:spMkLst>
        </pc:spChg>
      </pc:sldChg>
      <pc:sldChg chg="modSp mod modNotesTx">
        <pc:chgData name="Romain Rosay" userId="d562565c-1457-4874-adac-2143cb9aa9a7" providerId="ADAL" clId="{ACF5C8D2-166E-4403-8003-0EF35400E61F}" dt="2026-01-16T11:02:46.846" v="185" actId="20577"/>
        <pc:sldMkLst>
          <pc:docMk/>
          <pc:sldMk cId="897100507" sldId="308"/>
        </pc:sldMkLst>
        <pc:spChg chg="mod">
          <ac:chgData name="Romain Rosay" userId="d562565c-1457-4874-adac-2143cb9aa9a7" providerId="ADAL" clId="{ACF5C8D2-166E-4403-8003-0EF35400E61F}" dt="2026-01-16T10:17:15.026" v="19"/>
          <ac:spMkLst>
            <pc:docMk/>
            <pc:sldMk cId="897100507" sldId="308"/>
            <ac:spMk id="2" creationId="{6E891AC1-7757-84E9-A4B6-A3DAC9873AC8}"/>
          </ac:spMkLst>
        </pc:spChg>
        <pc:spChg chg="mod">
          <ac:chgData name="Romain Rosay" userId="d562565c-1457-4874-adac-2143cb9aa9a7" providerId="ADAL" clId="{ACF5C8D2-166E-4403-8003-0EF35400E61F}" dt="2026-01-16T10:26:16.710" v="168" actId="207"/>
          <ac:spMkLst>
            <pc:docMk/>
            <pc:sldMk cId="897100507" sldId="308"/>
            <ac:spMk id="3" creationId="{942E22A4-A7C2-811E-10FB-FA0F6AF6712F}"/>
          </ac:spMkLst>
        </pc:spChg>
      </pc:sldChg>
      <pc:sldChg chg="modSp mod modNotesTx">
        <pc:chgData name="Romain Rosay" userId="d562565c-1457-4874-adac-2143cb9aa9a7" providerId="ADAL" clId="{ACF5C8D2-166E-4403-8003-0EF35400E61F}" dt="2026-01-16T11:05:29.632" v="219" actId="20577"/>
        <pc:sldMkLst>
          <pc:docMk/>
          <pc:sldMk cId="3040483899" sldId="309"/>
        </pc:sldMkLst>
        <pc:spChg chg="mod">
          <ac:chgData name="Romain Rosay" userId="d562565c-1457-4874-adac-2143cb9aa9a7" providerId="ADAL" clId="{ACF5C8D2-166E-4403-8003-0EF35400E61F}" dt="2026-01-16T10:17:16.474" v="20"/>
          <ac:spMkLst>
            <pc:docMk/>
            <pc:sldMk cId="3040483899" sldId="309"/>
            <ac:spMk id="2" creationId="{6E891AC1-7757-84E9-A4B6-A3DAC9873AC8}"/>
          </ac:spMkLst>
        </pc:spChg>
        <pc:spChg chg="mod">
          <ac:chgData name="Romain Rosay" userId="d562565c-1457-4874-adac-2143cb9aa9a7" providerId="ADAL" clId="{ACF5C8D2-166E-4403-8003-0EF35400E61F}" dt="2026-01-16T10:26:05.487" v="162" actId="207"/>
          <ac:spMkLst>
            <pc:docMk/>
            <pc:sldMk cId="3040483899" sldId="309"/>
            <ac:spMk id="3" creationId="{942E22A4-A7C2-811E-10FB-FA0F6AF6712F}"/>
          </ac:spMkLst>
        </pc:spChg>
      </pc:sldChg>
      <pc:sldChg chg="modSp mod modNotesTx">
        <pc:chgData name="Romain Rosay" userId="d562565c-1457-4874-adac-2143cb9aa9a7" providerId="ADAL" clId="{ACF5C8D2-166E-4403-8003-0EF35400E61F}" dt="2026-01-16T11:06:54.531" v="224" actId="20577"/>
        <pc:sldMkLst>
          <pc:docMk/>
          <pc:sldMk cId="546785034" sldId="310"/>
        </pc:sldMkLst>
        <pc:spChg chg="mod">
          <ac:chgData name="Romain Rosay" userId="d562565c-1457-4874-adac-2143cb9aa9a7" providerId="ADAL" clId="{ACF5C8D2-166E-4403-8003-0EF35400E61F}" dt="2026-01-16T10:17:18.118" v="21"/>
          <ac:spMkLst>
            <pc:docMk/>
            <pc:sldMk cId="546785034" sldId="310"/>
            <ac:spMk id="2" creationId="{6E891AC1-7757-84E9-A4B6-A3DAC9873AC8}"/>
          </ac:spMkLst>
        </pc:spChg>
        <pc:spChg chg="mod">
          <ac:chgData name="Romain Rosay" userId="d562565c-1457-4874-adac-2143cb9aa9a7" providerId="ADAL" clId="{ACF5C8D2-166E-4403-8003-0EF35400E61F}" dt="2026-01-16T10:25:54.845" v="156" actId="207"/>
          <ac:spMkLst>
            <pc:docMk/>
            <pc:sldMk cId="546785034" sldId="310"/>
            <ac:spMk id="3" creationId="{942E22A4-A7C2-811E-10FB-FA0F6AF6712F}"/>
          </ac:spMkLst>
        </pc:spChg>
      </pc:sldChg>
      <pc:sldChg chg="modSp mod modNotesTx">
        <pc:chgData name="Romain Rosay" userId="d562565c-1457-4874-adac-2143cb9aa9a7" providerId="ADAL" clId="{ACF5C8D2-166E-4403-8003-0EF35400E61F}" dt="2026-01-16T11:07:00.892" v="229" actId="20577"/>
        <pc:sldMkLst>
          <pc:docMk/>
          <pc:sldMk cId="4233074070" sldId="311"/>
        </pc:sldMkLst>
        <pc:spChg chg="mod">
          <ac:chgData name="Romain Rosay" userId="d562565c-1457-4874-adac-2143cb9aa9a7" providerId="ADAL" clId="{ACF5C8D2-166E-4403-8003-0EF35400E61F}" dt="2026-01-16T10:18:20.629" v="22"/>
          <ac:spMkLst>
            <pc:docMk/>
            <pc:sldMk cId="4233074070" sldId="311"/>
            <ac:spMk id="2" creationId="{6E891AC1-7757-84E9-A4B6-A3DAC9873AC8}"/>
          </ac:spMkLst>
        </pc:spChg>
        <pc:spChg chg="mod">
          <ac:chgData name="Romain Rosay" userId="d562565c-1457-4874-adac-2143cb9aa9a7" providerId="ADAL" clId="{ACF5C8D2-166E-4403-8003-0EF35400E61F}" dt="2026-01-16T10:25:43.735" v="150" actId="207"/>
          <ac:spMkLst>
            <pc:docMk/>
            <pc:sldMk cId="4233074070" sldId="311"/>
            <ac:spMk id="3" creationId="{942E22A4-A7C2-811E-10FB-FA0F6AF6712F}"/>
          </ac:spMkLst>
        </pc:spChg>
      </pc:sldChg>
      <pc:sldChg chg="modSp mod modNotesTx">
        <pc:chgData name="Romain Rosay" userId="d562565c-1457-4874-adac-2143cb9aa9a7" providerId="ADAL" clId="{ACF5C8D2-166E-4403-8003-0EF35400E61F}" dt="2026-01-16T11:07:15.070" v="234" actId="20577"/>
        <pc:sldMkLst>
          <pc:docMk/>
          <pc:sldMk cId="959884948" sldId="312"/>
        </pc:sldMkLst>
        <pc:spChg chg="mod">
          <ac:chgData name="Romain Rosay" userId="d562565c-1457-4874-adac-2143cb9aa9a7" providerId="ADAL" clId="{ACF5C8D2-166E-4403-8003-0EF35400E61F}" dt="2026-01-16T10:18:23.572" v="23"/>
          <ac:spMkLst>
            <pc:docMk/>
            <pc:sldMk cId="959884948" sldId="312"/>
            <ac:spMk id="2" creationId="{6E891AC1-7757-84E9-A4B6-A3DAC9873AC8}"/>
          </ac:spMkLst>
        </pc:spChg>
        <pc:spChg chg="mod">
          <ac:chgData name="Romain Rosay" userId="d562565c-1457-4874-adac-2143cb9aa9a7" providerId="ADAL" clId="{ACF5C8D2-166E-4403-8003-0EF35400E61F}" dt="2026-01-16T10:25:30.756" v="144" actId="207"/>
          <ac:spMkLst>
            <pc:docMk/>
            <pc:sldMk cId="959884948" sldId="312"/>
            <ac:spMk id="3" creationId="{942E22A4-A7C2-811E-10FB-FA0F6AF6712F}"/>
          </ac:spMkLst>
        </pc:spChg>
      </pc:sldChg>
      <pc:sldChg chg="modSp mod modNotesTx">
        <pc:chgData name="Romain Rosay" userId="d562565c-1457-4874-adac-2143cb9aa9a7" providerId="ADAL" clId="{ACF5C8D2-166E-4403-8003-0EF35400E61F}" dt="2026-01-16T11:07:28.948" v="239" actId="20577"/>
        <pc:sldMkLst>
          <pc:docMk/>
          <pc:sldMk cId="2243911207" sldId="313"/>
        </pc:sldMkLst>
        <pc:spChg chg="mod">
          <ac:chgData name="Romain Rosay" userId="d562565c-1457-4874-adac-2143cb9aa9a7" providerId="ADAL" clId="{ACF5C8D2-166E-4403-8003-0EF35400E61F}" dt="2026-01-16T10:18:25.096" v="24"/>
          <ac:spMkLst>
            <pc:docMk/>
            <pc:sldMk cId="2243911207" sldId="313"/>
            <ac:spMk id="2" creationId="{6E891AC1-7757-84E9-A4B6-A3DAC9873AC8}"/>
          </ac:spMkLst>
        </pc:spChg>
        <pc:spChg chg="mod">
          <ac:chgData name="Romain Rosay" userId="d562565c-1457-4874-adac-2143cb9aa9a7" providerId="ADAL" clId="{ACF5C8D2-166E-4403-8003-0EF35400E61F}" dt="2026-01-16T10:25:18.904" v="138" actId="207"/>
          <ac:spMkLst>
            <pc:docMk/>
            <pc:sldMk cId="2243911207" sldId="313"/>
            <ac:spMk id="3" creationId="{942E22A4-A7C2-811E-10FB-FA0F6AF6712F}"/>
          </ac:spMkLst>
        </pc:spChg>
      </pc:sldChg>
      <pc:sldChg chg="modSp mod modNotesTx">
        <pc:chgData name="Romain Rosay" userId="d562565c-1457-4874-adac-2143cb9aa9a7" providerId="ADAL" clId="{ACF5C8D2-166E-4403-8003-0EF35400E61F}" dt="2026-01-16T11:09:38.817" v="244" actId="20577"/>
        <pc:sldMkLst>
          <pc:docMk/>
          <pc:sldMk cId="1581265280" sldId="314"/>
        </pc:sldMkLst>
        <pc:spChg chg="mod">
          <ac:chgData name="Romain Rosay" userId="d562565c-1457-4874-adac-2143cb9aa9a7" providerId="ADAL" clId="{ACF5C8D2-166E-4403-8003-0EF35400E61F}" dt="2026-01-16T10:18:26.662" v="25"/>
          <ac:spMkLst>
            <pc:docMk/>
            <pc:sldMk cId="1581265280" sldId="314"/>
            <ac:spMk id="2" creationId="{6E891AC1-7757-84E9-A4B6-A3DAC9873AC8}"/>
          </ac:spMkLst>
        </pc:spChg>
        <pc:spChg chg="mod">
          <ac:chgData name="Romain Rosay" userId="d562565c-1457-4874-adac-2143cb9aa9a7" providerId="ADAL" clId="{ACF5C8D2-166E-4403-8003-0EF35400E61F}" dt="2026-01-16T10:25:05.345" v="132" actId="207"/>
          <ac:spMkLst>
            <pc:docMk/>
            <pc:sldMk cId="1581265280" sldId="314"/>
            <ac:spMk id="3" creationId="{942E22A4-A7C2-811E-10FB-FA0F6AF6712F}"/>
          </ac:spMkLst>
        </pc:spChg>
      </pc:sldChg>
      <pc:sldChg chg="modSp mod modNotesTx">
        <pc:chgData name="Romain Rosay" userId="d562565c-1457-4874-adac-2143cb9aa9a7" providerId="ADAL" clId="{ACF5C8D2-166E-4403-8003-0EF35400E61F}" dt="2026-01-16T11:10:20.548" v="254" actId="20577"/>
        <pc:sldMkLst>
          <pc:docMk/>
          <pc:sldMk cId="2812579616" sldId="315"/>
        </pc:sldMkLst>
        <pc:spChg chg="mod">
          <ac:chgData name="Romain Rosay" userId="d562565c-1457-4874-adac-2143cb9aa9a7" providerId="ADAL" clId="{ACF5C8D2-166E-4403-8003-0EF35400E61F}" dt="2026-01-16T10:18:30.487" v="27"/>
          <ac:spMkLst>
            <pc:docMk/>
            <pc:sldMk cId="2812579616" sldId="315"/>
            <ac:spMk id="2" creationId="{6E891AC1-7757-84E9-A4B6-A3DAC9873AC8}"/>
          </ac:spMkLst>
        </pc:spChg>
        <pc:spChg chg="mod">
          <ac:chgData name="Romain Rosay" userId="d562565c-1457-4874-adac-2143cb9aa9a7" providerId="ADAL" clId="{ACF5C8D2-166E-4403-8003-0EF35400E61F}" dt="2026-01-16T10:24:34.888" v="120" actId="207"/>
          <ac:spMkLst>
            <pc:docMk/>
            <pc:sldMk cId="2812579616" sldId="315"/>
            <ac:spMk id="3" creationId="{942E22A4-A7C2-811E-10FB-FA0F6AF6712F}"/>
          </ac:spMkLst>
        </pc:spChg>
      </pc:sldChg>
      <pc:sldChg chg="modSp mod modNotesTx">
        <pc:chgData name="Romain Rosay" userId="d562565c-1457-4874-adac-2143cb9aa9a7" providerId="ADAL" clId="{ACF5C8D2-166E-4403-8003-0EF35400E61F}" dt="2026-01-16T11:10:04.009" v="249" actId="20577"/>
        <pc:sldMkLst>
          <pc:docMk/>
          <pc:sldMk cId="3191074640" sldId="316"/>
        </pc:sldMkLst>
        <pc:spChg chg="mod">
          <ac:chgData name="Romain Rosay" userId="d562565c-1457-4874-adac-2143cb9aa9a7" providerId="ADAL" clId="{ACF5C8D2-166E-4403-8003-0EF35400E61F}" dt="2026-01-16T10:18:28.797" v="26"/>
          <ac:spMkLst>
            <pc:docMk/>
            <pc:sldMk cId="3191074640" sldId="316"/>
            <ac:spMk id="2" creationId="{6E891AC1-7757-84E9-A4B6-A3DAC9873AC8}"/>
          </ac:spMkLst>
        </pc:spChg>
        <pc:spChg chg="mod">
          <ac:chgData name="Romain Rosay" userId="d562565c-1457-4874-adac-2143cb9aa9a7" providerId="ADAL" clId="{ACF5C8D2-166E-4403-8003-0EF35400E61F}" dt="2026-01-16T10:24:48.221" v="126" actId="207"/>
          <ac:spMkLst>
            <pc:docMk/>
            <pc:sldMk cId="3191074640" sldId="316"/>
            <ac:spMk id="3" creationId="{942E22A4-A7C2-811E-10FB-FA0F6AF6712F}"/>
          </ac:spMkLst>
        </pc:spChg>
      </pc:sldChg>
      <pc:sldChg chg="modSp mod">
        <pc:chgData name="Romain Rosay" userId="d562565c-1457-4874-adac-2143cb9aa9a7" providerId="ADAL" clId="{ACF5C8D2-166E-4403-8003-0EF35400E61F}" dt="2026-01-16T10:19:49.038" v="115" actId="20577"/>
        <pc:sldMkLst>
          <pc:docMk/>
          <pc:sldMk cId="4038651894" sldId="317"/>
        </pc:sldMkLst>
        <pc:spChg chg="mod">
          <ac:chgData name="Romain Rosay" userId="d562565c-1457-4874-adac-2143cb9aa9a7" providerId="ADAL" clId="{ACF5C8D2-166E-4403-8003-0EF35400E61F}" dt="2026-01-16T10:18:32.059" v="28"/>
          <ac:spMkLst>
            <pc:docMk/>
            <pc:sldMk cId="4038651894" sldId="317"/>
            <ac:spMk id="2" creationId="{6E891AC1-7757-84E9-A4B6-A3DAC9873AC8}"/>
          </ac:spMkLst>
        </pc:spChg>
        <pc:spChg chg="mod">
          <ac:chgData name="Romain Rosay" userId="d562565c-1457-4874-adac-2143cb9aa9a7" providerId="ADAL" clId="{ACF5C8D2-166E-4403-8003-0EF35400E61F}" dt="2026-01-16T10:19:49.038" v="115" actId="20577"/>
          <ac:spMkLst>
            <pc:docMk/>
            <pc:sldMk cId="4038651894" sldId="317"/>
            <ac:spMk id="3" creationId="{942E22A4-A7C2-811E-10FB-FA0F6AF6712F}"/>
          </ac:spMkLst>
        </pc:spChg>
      </pc:sldChg>
      <pc:sldChg chg="modSp mod">
        <pc:chgData name="Romain Rosay" userId="d562565c-1457-4874-adac-2143cb9aa9a7" providerId="ADAL" clId="{ACF5C8D2-166E-4403-8003-0EF35400E61F}" dt="2026-01-16T11:25:48.453" v="256" actId="20577"/>
        <pc:sldMkLst>
          <pc:docMk/>
          <pc:sldMk cId="964263047" sldId="322"/>
        </pc:sldMkLst>
        <pc:spChg chg="mod">
          <ac:chgData name="Romain Rosay" userId="d562565c-1457-4874-adac-2143cb9aa9a7" providerId="ADAL" clId="{ACF5C8D2-166E-4403-8003-0EF35400E61F}" dt="2026-01-16T11:25:48.453" v="256" actId="20577"/>
          <ac:spMkLst>
            <pc:docMk/>
            <pc:sldMk cId="964263047" sldId="322"/>
            <ac:spMk id="2" creationId="{577CA417-48A2-4EC1-BB6A-E88DDE96D870}"/>
          </ac:spMkLst>
        </pc:spChg>
      </pc:sldChg>
      <pc:sldChg chg="modSp mod">
        <pc:chgData name="Romain Rosay" userId="d562565c-1457-4874-adac-2143cb9aa9a7" providerId="ADAL" clId="{ACF5C8D2-166E-4403-8003-0EF35400E61F}" dt="2026-01-16T11:26:00.076" v="258" actId="20577"/>
        <pc:sldMkLst>
          <pc:docMk/>
          <pc:sldMk cId="3379686148" sldId="323"/>
        </pc:sldMkLst>
        <pc:spChg chg="mod">
          <ac:chgData name="Romain Rosay" userId="d562565c-1457-4874-adac-2143cb9aa9a7" providerId="ADAL" clId="{ACF5C8D2-166E-4403-8003-0EF35400E61F}" dt="2026-01-16T11:26:00.076" v="258" actId="20577"/>
          <ac:spMkLst>
            <pc:docMk/>
            <pc:sldMk cId="3379686148" sldId="323"/>
            <ac:spMk id="2" creationId="{577CA417-48A2-4EC1-BB6A-E88DDE96D870}"/>
          </ac:spMkLst>
        </pc:spChg>
      </pc:sldChg>
      <pc:sldChg chg="modSp mod">
        <pc:chgData name="Romain Rosay" userId="d562565c-1457-4874-adac-2143cb9aa9a7" providerId="ADAL" clId="{ACF5C8D2-166E-4403-8003-0EF35400E61F}" dt="2026-01-16T11:26:09" v="260" actId="20577"/>
        <pc:sldMkLst>
          <pc:docMk/>
          <pc:sldMk cId="2860397591" sldId="324"/>
        </pc:sldMkLst>
        <pc:spChg chg="mod">
          <ac:chgData name="Romain Rosay" userId="d562565c-1457-4874-adac-2143cb9aa9a7" providerId="ADAL" clId="{ACF5C8D2-166E-4403-8003-0EF35400E61F}" dt="2026-01-16T11:26:09" v="260" actId="20577"/>
          <ac:spMkLst>
            <pc:docMk/>
            <pc:sldMk cId="2860397591" sldId="324"/>
            <ac:spMk id="2" creationId="{577CA417-48A2-4EC1-BB6A-E88DDE96D870}"/>
          </ac:spMkLst>
        </pc:spChg>
      </pc:sldChg>
      <pc:sldChg chg="modSp mod ord">
        <pc:chgData name="Romain Rosay" userId="d562565c-1457-4874-adac-2143cb9aa9a7" providerId="ADAL" clId="{ACF5C8D2-166E-4403-8003-0EF35400E61F}" dt="2026-01-16T11:26:33.360" v="264"/>
        <pc:sldMkLst>
          <pc:docMk/>
          <pc:sldMk cId="3750234241" sldId="325"/>
        </pc:sldMkLst>
        <pc:spChg chg="mod">
          <ac:chgData name="Romain Rosay" userId="d562565c-1457-4874-adac-2143cb9aa9a7" providerId="ADAL" clId="{ACF5C8D2-166E-4403-8003-0EF35400E61F}" dt="2026-01-16T11:26:18.423" v="262" actId="20577"/>
          <ac:spMkLst>
            <pc:docMk/>
            <pc:sldMk cId="3750234241" sldId="325"/>
            <ac:spMk id="2" creationId="{577CA417-48A2-4EC1-BB6A-E88DDE96D870}"/>
          </ac:spMkLst>
        </pc:spChg>
      </pc:sldChg>
      <pc:sldChg chg="modSp mod ord">
        <pc:chgData name="Romain Rosay" userId="d562565c-1457-4874-adac-2143cb9aa9a7" providerId="ADAL" clId="{ACF5C8D2-166E-4403-8003-0EF35400E61F}" dt="2026-01-16T11:28:16.975" v="275"/>
        <pc:sldMkLst>
          <pc:docMk/>
          <pc:sldMk cId="2307554601" sldId="326"/>
        </pc:sldMkLst>
        <pc:spChg chg="mod">
          <ac:chgData name="Romain Rosay" userId="d562565c-1457-4874-adac-2143cb9aa9a7" providerId="ADAL" clId="{ACF5C8D2-166E-4403-8003-0EF35400E61F}" dt="2026-01-16T11:27:14.063" v="269"/>
          <ac:spMkLst>
            <pc:docMk/>
            <pc:sldMk cId="2307554601" sldId="326"/>
            <ac:spMk id="2" creationId="{577CA417-48A2-4EC1-BB6A-E88DDE96D870}"/>
          </ac:spMkLst>
        </pc:spChg>
      </pc:sldChg>
      <pc:sldChg chg="modSp mod">
        <pc:chgData name="Romain Rosay" userId="d562565c-1457-4874-adac-2143cb9aa9a7" providerId="ADAL" clId="{ACF5C8D2-166E-4403-8003-0EF35400E61F}" dt="2026-01-16T11:28:50.912" v="276" actId="6549"/>
        <pc:sldMkLst>
          <pc:docMk/>
          <pc:sldMk cId="1325866082" sldId="327"/>
        </pc:sldMkLst>
        <pc:spChg chg="mod">
          <ac:chgData name="Romain Rosay" userId="d562565c-1457-4874-adac-2143cb9aa9a7" providerId="ADAL" clId="{ACF5C8D2-166E-4403-8003-0EF35400E61F}" dt="2026-01-16T11:28:50.912" v="276" actId="6549"/>
          <ac:spMkLst>
            <pc:docMk/>
            <pc:sldMk cId="1325866082" sldId="327"/>
            <ac:spMk id="2" creationId="{577CA417-48A2-4EC1-BB6A-E88DDE96D870}"/>
          </ac:spMkLst>
        </pc:spChg>
      </pc:sldChg>
      <pc:sldChg chg="modSp mod">
        <pc:chgData name="Romain Rosay" userId="d562565c-1457-4874-adac-2143cb9aa9a7" providerId="ADAL" clId="{ACF5C8D2-166E-4403-8003-0EF35400E61F}" dt="2026-01-16T11:29:21.733" v="281"/>
        <pc:sldMkLst>
          <pc:docMk/>
          <pc:sldMk cId="759881703" sldId="330"/>
        </pc:sldMkLst>
        <pc:spChg chg="mod">
          <ac:chgData name="Romain Rosay" userId="d562565c-1457-4874-adac-2143cb9aa9a7" providerId="ADAL" clId="{ACF5C8D2-166E-4403-8003-0EF35400E61F}" dt="2026-01-16T11:29:21.733" v="281"/>
          <ac:spMkLst>
            <pc:docMk/>
            <pc:sldMk cId="759881703" sldId="330"/>
            <ac:spMk id="2" creationId="{577CA417-48A2-4EC1-BB6A-E88DDE96D870}"/>
          </ac:spMkLst>
        </pc:spChg>
      </pc:sldChg>
      <pc:sldChg chg="modSp mod">
        <pc:chgData name="Romain Rosay" userId="d562565c-1457-4874-adac-2143cb9aa9a7" providerId="ADAL" clId="{ACF5C8D2-166E-4403-8003-0EF35400E61F}" dt="2026-01-16T11:30:01.826" v="286" actId="27636"/>
        <pc:sldMkLst>
          <pc:docMk/>
          <pc:sldMk cId="3839176104" sldId="341"/>
        </pc:sldMkLst>
        <pc:spChg chg="mod">
          <ac:chgData name="Romain Rosay" userId="d562565c-1457-4874-adac-2143cb9aa9a7" providerId="ADAL" clId="{ACF5C8D2-166E-4403-8003-0EF35400E61F}" dt="2026-01-16T11:30:01.826" v="286" actId="27636"/>
          <ac:spMkLst>
            <pc:docMk/>
            <pc:sldMk cId="3839176104" sldId="341"/>
            <ac:spMk id="3" creationId="{942E22A4-A7C2-811E-10FB-FA0F6AF6712F}"/>
          </ac:spMkLst>
        </pc:spChg>
      </pc:sldChg>
      <pc:sldChg chg="ord">
        <pc:chgData name="Romain Rosay" userId="d562565c-1457-4874-adac-2143cb9aa9a7" providerId="ADAL" clId="{ACF5C8D2-166E-4403-8003-0EF35400E61F}" dt="2026-01-16T11:26:33.360" v="264"/>
        <pc:sldMkLst>
          <pc:docMk/>
          <pc:sldMk cId="1075131303" sldId="344"/>
        </pc:sldMkLst>
      </pc:sldChg>
      <pc:sldChg chg="ord">
        <pc:chgData name="Romain Rosay" userId="d562565c-1457-4874-adac-2143cb9aa9a7" providerId="ADAL" clId="{ACF5C8D2-166E-4403-8003-0EF35400E61F}" dt="2026-01-16T11:28:16.975" v="275"/>
        <pc:sldMkLst>
          <pc:docMk/>
          <pc:sldMk cId="1859703554" sldId="361"/>
        </pc:sldMkLst>
      </pc:sldChg>
      <pc:sldChg chg="modSp mod">
        <pc:chgData name="Romain Rosay" userId="d562565c-1457-4874-adac-2143cb9aa9a7" providerId="ADAL" clId="{ACF5C8D2-166E-4403-8003-0EF35400E61F}" dt="2026-01-16T11:28:58.250" v="279" actId="6549"/>
        <pc:sldMkLst>
          <pc:docMk/>
          <pc:sldMk cId="1651038118" sldId="362"/>
        </pc:sldMkLst>
        <pc:spChg chg="mod">
          <ac:chgData name="Romain Rosay" userId="d562565c-1457-4874-adac-2143cb9aa9a7" providerId="ADAL" clId="{ACF5C8D2-166E-4403-8003-0EF35400E61F}" dt="2026-01-16T11:28:58.250" v="279" actId="6549"/>
          <ac:spMkLst>
            <pc:docMk/>
            <pc:sldMk cId="1651038118" sldId="362"/>
            <ac:spMk id="2" creationId="{6E891AC1-7757-84E9-A4B6-A3DAC9873AC8}"/>
          </ac:spMkLst>
        </pc:spChg>
      </pc:sldChg>
      <pc:sldChg chg="mod modShow">
        <pc:chgData name="Romain Rosay" userId="d562565c-1457-4874-adac-2143cb9aa9a7" providerId="ADAL" clId="{ACF5C8D2-166E-4403-8003-0EF35400E61F}" dt="2026-01-16T11:29:37.012" v="282" actId="729"/>
        <pc:sldMkLst>
          <pc:docMk/>
          <pc:sldMk cId="3471957615" sldId="365"/>
        </pc:sldMkLst>
      </pc:sldChg>
      <pc:sldChg chg="ord">
        <pc:chgData name="Romain Rosay" userId="d562565c-1457-4874-adac-2143cb9aa9a7" providerId="ADAL" clId="{ACF5C8D2-166E-4403-8003-0EF35400E61F}" dt="2026-01-16T11:28:16.975" v="275"/>
        <pc:sldMkLst>
          <pc:docMk/>
          <pc:sldMk cId="3205796714" sldId="367"/>
        </pc:sldMkLst>
      </pc:sldChg>
      <pc:sldChg chg="ord">
        <pc:chgData name="Romain Rosay" userId="d562565c-1457-4874-adac-2143cb9aa9a7" providerId="ADAL" clId="{ACF5C8D2-166E-4403-8003-0EF35400E61F}" dt="2026-01-16T11:28:16.975" v="275"/>
        <pc:sldMkLst>
          <pc:docMk/>
          <pc:sldMk cId="1385757162" sldId="368"/>
        </pc:sldMkLst>
      </pc:sldChg>
      <pc:sldChg chg="mod modShow">
        <pc:chgData name="Romain Rosay" userId="d562565c-1457-4874-adac-2143cb9aa9a7" providerId="ADAL" clId="{ACF5C8D2-166E-4403-8003-0EF35400E61F}" dt="2026-01-16T11:29:37.012" v="282" actId="729"/>
        <pc:sldMkLst>
          <pc:docMk/>
          <pc:sldMk cId="309623908" sldId="378"/>
        </pc:sldMkLst>
      </pc:sldChg>
      <pc:sldChg chg="modSp mod">
        <pc:chgData name="Romain Rosay" userId="d562565c-1457-4874-adac-2143cb9aa9a7" providerId="ADAL" clId="{ACF5C8D2-166E-4403-8003-0EF35400E61F}" dt="2026-01-07T14:40:59.891" v="1" actId="1076"/>
        <pc:sldMkLst>
          <pc:docMk/>
          <pc:sldMk cId="689033407" sldId="380"/>
        </pc:sldMkLst>
        <pc:picChg chg="mod">
          <ac:chgData name="Romain Rosay" userId="d562565c-1457-4874-adac-2143cb9aa9a7" providerId="ADAL" clId="{ACF5C8D2-166E-4403-8003-0EF35400E61F}" dt="2026-01-07T14:40:59.891" v="1" actId="1076"/>
          <ac:picMkLst>
            <pc:docMk/>
            <pc:sldMk cId="689033407" sldId="380"/>
            <ac:picMk id="7" creationId="{0DA2A75A-F982-E550-6F34-0BAFA41140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218B3-C964-4B2C-A5FA-0E6289E029BD}" type="datetimeFigureOut">
              <a:rPr lang="fr-CH" smtClean="0"/>
              <a:t>16.01.2026</a:t>
            </a:fld>
            <a:endParaRPr lang="fr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E8B0B-D5D7-4D88-83E3-FE3FF33CB0C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615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Triade CIA – Sécurité de l’information</a:t>
            </a:r>
          </a:p>
          <a:p>
            <a:endParaRPr lang="fr-CH" dirty="0"/>
          </a:p>
          <a:p>
            <a:r>
              <a:rPr lang="fr-CH" dirty="0"/>
              <a:t>Origine</a:t>
            </a:r>
          </a:p>
          <a:p>
            <a:r>
              <a:rPr lang="fr-CH" dirty="0"/>
              <a:t>Cadre fondamental de la sécurité informatique (années 1970).</a:t>
            </a:r>
          </a:p>
          <a:p>
            <a:r>
              <a:rPr lang="fr-CH" dirty="0"/>
              <a:t>Objectif : protéger l’information contre accès non autorisé, modification et indisponibilité.</a:t>
            </a:r>
          </a:p>
          <a:p>
            <a:endParaRPr lang="fr-CH" dirty="0"/>
          </a:p>
          <a:p>
            <a:r>
              <a:rPr lang="fr-CH" dirty="0"/>
              <a:t>1. Confidentialité</a:t>
            </a:r>
          </a:p>
          <a:p>
            <a:endParaRPr lang="fr-CH" dirty="0"/>
          </a:p>
          <a:p>
            <a:r>
              <a:rPr lang="fr-CH" dirty="0"/>
              <a:t>Accès réservé aux personnes autorisées</a:t>
            </a:r>
          </a:p>
          <a:p>
            <a:endParaRPr lang="fr-CH" dirty="0"/>
          </a:p>
          <a:p>
            <a:r>
              <a:rPr lang="fr-CH" dirty="0"/>
              <a:t>Authentification, chiffrement, droits d’accès</a:t>
            </a:r>
          </a:p>
          <a:p>
            <a:endParaRPr lang="fr-CH" dirty="0"/>
          </a:p>
          <a:p>
            <a:r>
              <a:rPr lang="fr-CH" dirty="0"/>
              <a:t>Risque si absent : fuite de données</a:t>
            </a:r>
          </a:p>
          <a:p>
            <a:endParaRPr lang="fr-CH" dirty="0"/>
          </a:p>
          <a:p>
            <a:r>
              <a:rPr lang="fr-CH" dirty="0"/>
              <a:t>2. Intégrité</a:t>
            </a:r>
          </a:p>
          <a:p>
            <a:endParaRPr lang="fr-CH" dirty="0"/>
          </a:p>
          <a:p>
            <a:r>
              <a:rPr lang="fr-CH" dirty="0"/>
              <a:t>Données exactes et non modifiées</a:t>
            </a:r>
          </a:p>
          <a:p>
            <a:endParaRPr lang="fr-CH" dirty="0"/>
          </a:p>
          <a:p>
            <a:r>
              <a:rPr lang="fr-CH" dirty="0"/>
              <a:t>Hash, signatures, contrôle des changements</a:t>
            </a:r>
          </a:p>
          <a:p>
            <a:endParaRPr lang="fr-CH" dirty="0"/>
          </a:p>
          <a:p>
            <a:r>
              <a:rPr lang="fr-CH" dirty="0"/>
              <a:t>Risque si absent : fraude / erreurs</a:t>
            </a:r>
          </a:p>
          <a:p>
            <a:endParaRPr lang="fr-CH" dirty="0"/>
          </a:p>
          <a:p>
            <a:r>
              <a:rPr lang="fr-CH" dirty="0"/>
              <a:t>3. Disponibilité</a:t>
            </a:r>
          </a:p>
          <a:p>
            <a:endParaRPr lang="fr-CH" dirty="0"/>
          </a:p>
          <a:p>
            <a:r>
              <a:rPr lang="fr-CH" dirty="0"/>
              <a:t>Données et services accessibles quand nécessaire</a:t>
            </a:r>
          </a:p>
          <a:p>
            <a:endParaRPr lang="fr-CH" dirty="0"/>
          </a:p>
          <a:p>
            <a:r>
              <a:rPr lang="fr-CH" dirty="0"/>
              <a:t>Sauvegardes, redondance, anti-DDoS</a:t>
            </a:r>
          </a:p>
          <a:p>
            <a:endParaRPr lang="fr-CH" dirty="0"/>
          </a:p>
          <a:p>
            <a:r>
              <a:rPr lang="fr-CH" dirty="0"/>
              <a:t>Risque si absent : interruption de service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04147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9429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00523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10826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27391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/>
              <a:t>Cet objectif s’étalera sur plusieurs sessions.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3909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4300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78925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err="1"/>
              <a:t>Statistics</a:t>
            </a:r>
            <a:endParaRPr lang="fr-CH"/>
          </a:p>
          <a:p>
            <a:r>
              <a:rPr lang="fr-CH"/>
              <a:t>https://www.cobalt.io/blog/cybersecurity-statistics-2024#:~:text=Cybercrime%20is%20predicted%20to%20cost,annually%20by%202025%20(Forbes).</a:t>
            </a:r>
          </a:p>
          <a:p>
            <a:r>
              <a:rPr lang="fr-CH"/>
              <a:t>https://www.forbes.com/advisor/education/it-and-tech/cybersecurity-statistics/</a:t>
            </a:r>
          </a:p>
          <a:p>
            <a:endParaRPr lang="fr-CH"/>
          </a:p>
          <a:p>
            <a:endParaRPr lang="fr-CH"/>
          </a:p>
          <a:p>
            <a:r>
              <a:rPr lang="fr-CH"/>
              <a:t>Coût des attaques</a:t>
            </a:r>
          </a:p>
          <a:p>
            <a:r>
              <a:rPr lang="fr-CH"/>
              <a:t>https://em360tech.com/top-10/expensive-cyber-attacks</a:t>
            </a:r>
          </a:p>
          <a:p>
            <a:endParaRPr lang="fr-CH"/>
          </a:p>
          <a:p>
            <a:endParaRPr lang="fr-CH"/>
          </a:p>
          <a:p>
            <a:r>
              <a:rPr lang="fr-CH"/>
              <a:t>https://threatmap.fortiguard.com/</a:t>
            </a:r>
          </a:p>
          <a:p>
            <a:r>
              <a:rPr lang="fr-CH"/>
              <a:t>https://threatmap.bitdefender.com/</a:t>
            </a:r>
          </a:p>
          <a:p>
            <a:r>
              <a:rPr lang="fr-CH"/>
              <a:t>https://livethreatmap.radware.com/</a:t>
            </a:r>
          </a:p>
          <a:p>
            <a:r>
              <a:rPr lang="fr-CH"/>
              <a:t>https://cybermap.kaspersky.com/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25587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91929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Comme ce sont les recommandations suivis par un nombre, nous allons explorer ces bonnes pratiques. Cela va être notre fil rouge pour ce cours.</a:t>
            </a:r>
          </a:p>
          <a:p>
            <a:endParaRPr lang="fr-CH" dirty="0"/>
          </a:p>
          <a:p>
            <a:r>
              <a:rPr lang="fr-CH" dirty="0"/>
              <a:t>OWASP est dirigé par la communauté composé de dizaine de milliers de membres. Ils ont pour but de mettre</a:t>
            </a:r>
          </a:p>
          <a:p>
            <a:endParaRPr lang="fr-CH" dirty="0"/>
          </a:p>
          <a:p>
            <a:r>
              <a:rPr lang="fr-CH" dirty="0"/>
              <a:t>Le site OWASP fournit beaucoup de documentation pour tout ce qui concerne la mise en place de la sécurité de vos applications WEB au travers de nombreux projets.</a:t>
            </a:r>
          </a:p>
          <a:p>
            <a:r>
              <a:rPr lang="fr-CH" dirty="0"/>
              <a:t>Le site regorge d’informations très intéressantes sur tous les aspects de la sécurité.</a:t>
            </a: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r>
              <a:rPr lang="fr-CH" dirty="0"/>
              <a:t>D’autres projets intéressants :</a:t>
            </a:r>
          </a:p>
          <a:p>
            <a:r>
              <a:rPr lang="fr-CH" dirty="0"/>
              <a:t>Montrer le schéma suivant</a:t>
            </a:r>
          </a:p>
          <a:p>
            <a:r>
              <a:rPr lang="fr-CH" dirty="0"/>
              <a:t>https://owasp.org/projects/#  </a:t>
            </a:r>
          </a:p>
          <a:p>
            <a:endParaRPr lang="fr-CH" dirty="0"/>
          </a:p>
          <a:p>
            <a:r>
              <a:rPr lang="fr-CH" dirty="0"/>
              <a:t>OWASP </a:t>
            </a:r>
            <a:r>
              <a:rPr lang="fr-CH" dirty="0" err="1"/>
              <a:t>Cheat</a:t>
            </a:r>
            <a:r>
              <a:rPr lang="fr-CH" dirty="0"/>
              <a:t> Sheets </a:t>
            </a:r>
            <a:r>
              <a:rPr lang="fr-CH" dirty="0" err="1"/>
              <a:t>Series</a:t>
            </a:r>
            <a:r>
              <a:rPr lang="fr-CH" dirty="0"/>
              <a:t>  (OSS)</a:t>
            </a:r>
          </a:p>
          <a:p>
            <a:r>
              <a:rPr lang="fr-CH" dirty="0"/>
              <a:t>https://cheatsheetseries.owasp.org/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OWASP SAMM </a:t>
            </a: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r>
              <a:rPr lang="fr-CH" dirty="0"/>
              <a:t>Repo : </a:t>
            </a:r>
          </a:p>
          <a:p>
            <a:r>
              <a:rPr lang="fr-CH" dirty="0"/>
              <a:t>https://github.com/OWASP</a:t>
            </a:r>
          </a:p>
          <a:p>
            <a:r>
              <a:rPr lang="fr-CH" dirty="0" err="1"/>
              <a:t>Youtube</a:t>
            </a:r>
            <a:r>
              <a:rPr lang="fr-CH" dirty="0"/>
              <a:t> : </a:t>
            </a:r>
          </a:p>
          <a:p>
            <a:r>
              <a:rPr lang="fr-CH" dirty="0"/>
              <a:t>https://www.youtube.com/user/OWASPGLOBAL/videos</a:t>
            </a:r>
          </a:p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4925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Contrôles d'accès défaillants permettant à des utilisateurs non autorisés d'effectuer des actions ou d’accéder à des ressources non prévues. </a:t>
            </a:r>
          </a:p>
          <a:p>
            <a:endParaRPr lang="fr-CH" dirty="0"/>
          </a:p>
          <a:p>
            <a:r>
              <a:rPr lang="fr-CH" dirty="0"/>
              <a:t>---</a:t>
            </a:r>
          </a:p>
          <a:p>
            <a:endParaRPr lang="fr-CH" dirty="0"/>
          </a:p>
          <a:p>
            <a:r>
              <a:rPr lang="fr-CH" dirty="0"/>
              <a:t>Contrôle d’accès défaillant :</a:t>
            </a:r>
          </a:p>
          <a:p>
            <a:pPr marL="171450" indent="-171450">
              <a:buFontTx/>
              <a:buChar char="-"/>
            </a:pPr>
            <a:r>
              <a:rPr lang="fr-CH" dirty="0"/>
              <a:t>Pas d’authentification ou de rôle</a:t>
            </a:r>
          </a:p>
          <a:p>
            <a:pPr marL="171450" indent="-171450">
              <a:buFontTx/>
              <a:buChar char="-"/>
            </a:pPr>
            <a:endParaRPr lang="fr-CH" dirty="0"/>
          </a:p>
          <a:p>
            <a:pPr marL="171450" indent="-171450">
              <a:buFontTx/>
              <a:buChar char="-"/>
            </a:pPr>
            <a:r>
              <a:rPr lang="fr-CH" dirty="0"/>
              <a:t>Risque le plus significatif du top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9574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fr-CH" dirty="0"/>
              <a:t>Paramétrage incorrect d’un système, d’un service ou d’une application qui ouvre des vulnérabilités exploitables. </a:t>
            </a:r>
          </a:p>
          <a:p>
            <a:pPr>
              <a:buFont typeface="Arial" panose="020B0604020202020204" pitchFamily="34" charset="0"/>
              <a:buNone/>
            </a:pPr>
            <a:endParaRPr lang="fr-CH" dirty="0"/>
          </a:p>
          <a:p>
            <a:pPr>
              <a:buFont typeface="Arial" panose="020B0604020202020204" pitchFamily="34" charset="0"/>
              <a:buNone/>
            </a:pPr>
            <a:r>
              <a:rPr lang="fr-CH" dirty="0"/>
              <a:t>---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Sensitive data is transmitted (via HTTP, FTP, SMTP, </a:t>
            </a:r>
            <a:r>
              <a:rPr lang="en-US" dirty="0" err="1"/>
              <a:t>etc</a:t>
            </a:r>
            <a:r>
              <a:rPr lang="en-US" dirty="0"/>
              <a:t>) or stored in clear-text (database, files,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of old or weak cryptographic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of weak or default encryption keys or re-use of compromised keys.</a:t>
            </a:r>
          </a:p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44827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Défaillances dans la chaîne d’approvisionnement logicielle, y compris dépendances compromises et processus de </a:t>
            </a:r>
            <a:r>
              <a:rPr lang="fr-CH" dirty="0" err="1"/>
              <a:t>build</a:t>
            </a:r>
            <a:r>
              <a:rPr lang="fr-CH" dirty="0"/>
              <a:t> non sécurisés. </a:t>
            </a:r>
          </a:p>
          <a:p>
            <a:endParaRPr lang="fr-CH" dirty="0"/>
          </a:p>
          <a:p>
            <a:r>
              <a:rPr lang="fr-CH" dirty="0"/>
              <a:t>---</a:t>
            </a:r>
          </a:p>
          <a:p>
            <a:endParaRPr lang="fr-CH" dirty="0"/>
          </a:p>
          <a:p>
            <a:r>
              <a:rPr lang="fr-CH" dirty="0"/>
              <a:t>Intéressant: </a:t>
            </a:r>
            <a:br>
              <a:rPr lang="fr-CH" dirty="0"/>
            </a:br>
            <a:br>
              <a:rPr lang="fr-CH" dirty="0"/>
            </a:br>
            <a:r>
              <a:rPr lang="fr-CH" dirty="0"/>
              <a:t>https://david-gilbertson.medium.com/im-harvesting-credit-card-numbers-and-passwords-from-your-site-here-s-how-9a8cb347c5b5</a:t>
            </a:r>
            <a:br>
              <a:rPr lang="fr-CH" dirty="0"/>
            </a:br>
            <a:br>
              <a:rPr lang="fr-CH" dirty="0"/>
            </a:br>
            <a:r>
              <a:rPr lang="fr-CH" dirty="0"/>
              <a:t>https://npm.anvaka.com/#/view/2d/express</a:t>
            </a:r>
            <a:br>
              <a:rPr lang="fr-CH" dirty="0"/>
            </a:br>
            <a:br>
              <a:rPr lang="fr-CH" dirty="0"/>
            </a:br>
            <a:r>
              <a:rPr lang="fr-CH" dirty="0"/>
              <a:t>https://www.theregister.com/2016/03/23/npm_left_pad_chaos/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137734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Mauvaise utilisation ou absence de mécanismes cryptographiques sécurisés, exposant des données sensibles. </a:t>
            </a:r>
          </a:p>
          <a:p>
            <a:endParaRPr lang="fr-CH" dirty="0"/>
          </a:p>
          <a:p>
            <a:r>
              <a:rPr lang="fr-CH" dirty="0"/>
              <a:t>---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11704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Mauvaises pratiques d’intégration de données non sûres dans des commandes ou requêtes, menant à des attaques comme </a:t>
            </a:r>
            <a:r>
              <a:rPr lang="fr-CH" dirty="0" err="1"/>
              <a:t>SQLi</a:t>
            </a:r>
            <a:r>
              <a:rPr lang="fr-CH" dirty="0"/>
              <a:t> ou XSS.</a:t>
            </a:r>
          </a:p>
          <a:p>
            <a:endParaRPr lang="fr-CH" dirty="0"/>
          </a:p>
          <a:p>
            <a:r>
              <a:rPr lang="fr-CH" dirty="0"/>
              <a:t>---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67944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Défauts dans l’architecture ou le design de l’application qui introduisent des risques même si le code est correct. </a:t>
            </a:r>
          </a:p>
          <a:p>
            <a:endParaRPr lang="fr-CH" dirty="0"/>
          </a:p>
          <a:p>
            <a:r>
              <a:rPr lang="fr-CH" dirty="0"/>
              <a:t>---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43586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Failles dans les mécanismes d’authentification ou de gestion des sessions, permettant un accès non autorisé. </a:t>
            </a:r>
          </a:p>
          <a:p>
            <a:endParaRPr lang="fr-CH" dirty="0"/>
          </a:p>
          <a:p>
            <a:r>
              <a:rPr lang="fr-CH" dirty="0"/>
              <a:t>---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370023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Échecs à garantir l’intégrité du code ou des données via des mécanismes de vérification fiables. </a:t>
            </a:r>
          </a:p>
          <a:p>
            <a:endParaRPr lang="fr-CH" dirty="0"/>
          </a:p>
          <a:p>
            <a:r>
              <a:rPr lang="fr-CH" dirty="0"/>
              <a:t>---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01842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Absence ou configuration insuffisante de journalisation et d’alertes, rendant la détection d’attaques difficile. </a:t>
            </a:r>
          </a:p>
          <a:p>
            <a:endParaRPr lang="fr-CH" dirty="0"/>
          </a:p>
          <a:p>
            <a:r>
              <a:rPr lang="fr-CH" dirty="0"/>
              <a:t>---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1040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Gestion incorrecte des erreurs ou des conditions exceptionnelles, pouvant exposer des informations ou causer des interruptions.</a:t>
            </a:r>
          </a:p>
          <a:p>
            <a:endParaRPr lang="fr-CH" dirty="0"/>
          </a:p>
          <a:p>
            <a:r>
              <a:rPr lang="fr-CH" dirty="0"/>
              <a:t>---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372846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Combien vous souvenez-vous de points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49487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En </a:t>
            </a:r>
            <a:r>
              <a:rPr lang="fr-CH" err="1"/>
              <a:t>francais</a:t>
            </a:r>
            <a:r>
              <a:rPr lang="fr-CH"/>
              <a:t> : contrôle d’accès défaillants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644613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Version promenade?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339183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En </a:t>
            </a:r>
            <a:r>
              <a:rPr lang="fr-CH" err="1"/>
              <a:t>francais</a:t>
            </a:r>
            <a:r>
              <a:rPr lang="fr-CH"/>
              <a:t> : contrôle d’accès défaillants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389766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72694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471050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58059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974953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Default setup not </a:t>
            </a:r>
            <a:r>
              <a:rPr lang="fr-CH" err="1"/>
              <a:t>really</a:t>
            </a:r>
            <a:r>
              <a:rPr lang="fr-CH"/>
              <a:t> </a:t>
            </a:r>
            <a:r>
              <a:rPr lang="fr-CH" err="1"/>
              <a:t>secured</a:t>
            </a:r>
            <a:endParaRPr lang="fr-CH"/>
          </a:p>
          <a:p>
            <a:endParaRPr lang="fr-CH"/>
          </a:p>
          <a:p>
            <a:r>
              <a:rPr lang="fr-CH"/>
              <a:t>Analogie : faire un tour à vélo sans casque, conduire sans ceinture, </a:t>
            </a:r>
          </a:p>
          <a:p>
            <a:endParaRPr lang="fr-CH"/>
          </a:p>
          <a:p>
            <a:r>
              <a:rPr lang="fr-CH"/>
              <a:t>Ne pas changer le mot de passe régulièrement, activer des services/fonctionnalités superflues, utiliser des mots de passes faibles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918824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Gael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822881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Analogie:</a:t>
            </a:r>
          </a:p>
          <a:p>
            <a:endParaRPr lang="fr-CH" dirty="0"/>
          </a:p>
          <a:p>
            <a:r>
              <a:rPr lang="fr-CH" dirty="0"/>
              <a:t>Construire une maison avec de l’isolation contenant de l’amiante</a:t>
            </a:r>
          </a:p>
          <a:p>
            <a:r>
              <a:rPr lang="fr-CH" dirty="0"/>
              <a:t>Réaliser une poterie avec du plomb dans l’argile</a:t>
            </a:r>
          </a:p>
          <a:p>
            <a:endParaRPr lang="fr-CH" dirty="0"/>
          </a:p>
          <a:p>
            <a:endParaRPr lang="fr-CH" dirty="0"/>
          </a:p>
          <a:p>
            <a:r>
              <a:rPr lang="fr-CH" dirty="0" err="1"/>
              <a:t>Equifax</a:t>
            </a:r>
            <a:r>
              <a:rPr lang="fr-CH" dirty="0"/>
              <a:t> </a:t>
            </a:r>
            <a:r>
              <a:rPr lang="fr-CH" dirty="0" err="1"/>
              <a:t>breach</a:t>
            </a:r>
            <a:r>
              <a:rPr lang="fr-CH" dirty="0"/>
              <a:t> in 2017</a:t>
            </a:r>
          </a:p>
          <a:p>
            <a:endParaRPr lang="fr-CH" dirty="0"/>
          </a:p>
          <a:p>
            <a:r>
              <a:rPr lang="fr-CH" dirty="0" err="1"/>
              <a:t>Solarwinds</a:t>
            </a:r>
            <a:endParaRPr lang="fr-CH" dirty="0"/>
          </a:p>
          <a:p>
            <a:endParaRPr lang="fr-CH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Attaques par "</a:t>
            </a:r>
            <a:r>
              <a:rPr lang="fr-C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typosquatting</a:t>
            </a:r>
            <a:r>
              <a:rPr lang="fr-C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ou "brandjacking" :</a:t>
            </a:r>
            <a:r>
              <a:rPr lang="fr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Les attaquants créent des paquets malveillants avec des noms très similaires à des paquets populaires pour tromper les développeurs.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sécurité de votre application est la sécurité de vos composants les plus petits</a:t>
            </a:r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474949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529114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Pour faire des mises à jour, il faut l’appui des actionnaires et des dirigeants.</a:t>
            </a:r>
          </a:p>
          <a:p>
            <a:endParaRPr lang="fr-CH"/>
          </a:p>
          <a:p>
            <a:r>
              <a:rPr lang="fr-CH"/>
              <a:t>Problème qui arrive</a:t>
            </a:r>
          </a:p>
          <a:p>
            <a:endParaRPr lang="fr-CH"/>
          </a:p>
          <a:p>
            <a:r>
              <a:rPr lang="fr-CH"/>
              <a:t>On repousse toujours un peu plus la mise à jour jusqu’au jour où il y a le problème et ensuite les développeurs sont pointés du doigt!!!</a:t>
            </a:r>
          </a:p>
          <a:p>
            <a:endParaRPr lang="fr-CH"/>
          </a:p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097650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45051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: à quel endroit les données peuvent ne pas être chiffrées correctement :</a:t>
            </a:r>
          </a:p>
          <a:p>
            <a:endParaRPr lang="fr-CH"/>
          </a:p>
          <a:p>
            <a:pPr marL="228600" indent="-228600">
              <a:buAutoNum type="arabicPeriod"/>
            </a:pPr>
            <a:r>
              <a:rPr lang="fr-CH"/>
              <a:t>Dans le stockage</a:t>
            </a:r>
          </a:p>
          <a:p>
            <a:pPr marL="228600" indent="-228600">
              <a:buAutoNum type="arabicPeriod"/>
            </a:pPr>
            <a:r>
              <a:rPr lang="fr-CH"/>
              <a:t>Dans le transport</a:t>
            </a:r>
          </a:p>
          <a:p>
            <a:pPr marL="228600" indent="-228600">
              <a:buAutoNum type="arabicPeriod"/>
            </a:pPr>
            <a:endParaRPr lang="fr-CH"/>
          </a:p>
          <a:p>
            <a:pPr marL="0" indent="0">
              <a:buNone/>
            </a:pPr>
            <a:r>
              <a:rPr lang="fr-CH"/>
              <a:t>Demandez aux élèves quelques technologies pour chiffrer le transport (HTTPS, SSH, VPN). Quelques exemples pour chiffrer une base de données ? Un disque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610996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: à quel endroit les données peuvent ne pas être chiffrées correctement :</a:t>
            </a:r>
          </a:p>
          <a:p>
            <a:endParaRPr lang="fr-CH"/>
          </a:p>
          <a:p>
            <a:pPr marL="228600" indent="-228600">
              <a:buAutoNum type="arabicPeriod"/>
            </a:pPr>
            <a:r>
              <a:rPr lang="fr-CH"/>
              <a:t>Dans le stockage</a:t>
            </a:r>
          </a:p>
          <a:p>
            <a:pPr marL="228600" indent="-228600">
              <a:buAutoNum type="arabicPeriod"/>
            </a:pPr>
            <a:r>
              <a:rPr lang="fr-CH"/>
              <a:t>Dans le transport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96366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546307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252657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err="1"/>
              <a:t>When</a:t>
            </a:r>
            <a:r>
              <a:rPr lang="fr-CH"/>
              <a:t> an application </a:t>
            </a:r>
            <a:r>
              <a:rPr lang="fr-CH" err="1"/>
              <a:t>accept</a:t>
            </a:r>
            <a:r>
              <a:rPr lang="fr-CH"/>
              <a:t> data as input and process </a:t>
            </a:r>
            <a:r>
              <a:rPr lang="fr-CH" err="1"/>
              <a:t>it</a:t>
            </a:r>
            <a:r>
              <a:rPr lang="fr-CH"/>
              <a:t> as an instruction</a:t>
            </a:r>
          </a:p>
          <a:p>
            <a:endParaRPr lang="fr-CH"/>
          </a:p>
          <a:p>
            <a:r>
              <a:rPr lang="fr-CH"/>
              <a:t>Exemple du chien que l’on nomme assis. Est-ce le nom (data) ou l’instruction?</a:t>
            </a:r>
          </a:p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116350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fr-CH"/>
              <a:t>Analogie du chien qui s’appelle </a:t>
            </a:r>
            <a:r>
              <a:rPr lang="fr-CH" err="1"/>
              <a:t>Sit</a:t>
            </a:r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598813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of the more common injections are SQL, NoSQL, OS command, Object Relational Mapping (ORM), LDAP, and Expression Language (EL) or Object Graph Navigation Library (OGNL) injection. </a:t>
            </a:r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91033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Notez ce bout de code au tableau</a:t>
            </a:r>
          </a:p>
          <a:p>
            <a:endParaRPr lang="fr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Injection Based on 1=1 is Always True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790229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Notez ce bout de code au tableau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544175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76782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152427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Aussi: données sensibles dans les logs</a:t>
            </a:r>
          </a:p>
          <a:p>
            <a:endParaRPr lang="fr-CH"/>
          </a:p>
          <a:p>
            <a:r>
              <a:rPr lang="fr-CH"/>
              <a:t>Analogie : Construction de la maison</a:t>
            </a:r>
          </a:p>
          <a:p>
            <a:r>
              <a:rPr lang="fr-CH"/>
              <a:t>Small </a:t>
            </a:r>
            <a:r>
              <a:rPr lang="fr-CH" err="1"/>
              <a:t>problems</a:t>
            </a:r>
            <a:r>
              <a:rPr lang="fr-CH"/>
              <a:t> : </a:t>
            </a:r>
            <a:r>
              <a:rPr lang="fr-CH" err="1"/>
              <a:t>broken</a:t>
            </a:r>
            <a:r>
              <a:rPr lang="fr-CH"/>
              <a:t> </a:t>
            </a:r>
            <a:r>
              <a:rPr lang="fr-CH" err="1"/>
              <a:t>dishwasher</a:t>
            </a:r>
            <a:r>
              <a:rPr lang="fr-CH"/>
              <a:t> or </a:t>
            </a:r>
            <a:r>
              <a:rPr lang="fr-CH" err="1"/>
              <a:t>lightbulb</a:t>
            </a:r>
            <a:endParaRPr lang="fr-CH"/>
          </a:p>
          <a:p>
            <a:r>
              <a:rPr lang="fr-CH"/>
              <a:t>Big </a:t>
            </a:r>
            <a:r>
              <a:rPr lang="fr-CH" err="1"/>
              <a:t>problem</a:t>
            </a:r>
            <a:r>
              <a:rPr lang="fr-CH"/>
              <a:t> : house on a </a:t>
            </a:r>
            <a:r>
              <a:rPr lang="fr-CH" err="1"/>
              <a:t>flank</a:t>
            </a:r>
            <a:r>
              <a:rPr lang="fr-CH"/>
              <a:t> </a:t>
            </a:r>
            <a:r>
              <a:rPr lang="fr-CH" err="1"/>
              <a:t>with</a:t>
            </a:r>
            <a:r>
              <a:rPr lang="fr-CH"/>
              <a:t> no </a:t>
            </a:r>
            <a:r>
              <a:rPr lang="fr-CH" err="1"/>
              <a:t>foundation</a:t>
            </a:r>
            <a:r>
              <a:rPr lang="fr-CH"/>
              <a:t> </a:t>
            </a:r>
            <a:r>
              <a:rPr lang="fr-CH" err="1"/>
              <a:t>will</a:t>
            </a:r>
            <a:r>
              <a:rPr lang="fr-CH"/>
              <a:t> </a:t>
            </a:r>
            <a:r>
              <a:rPr lang="fr-CH" err="1"/>
              <a:t>provoke</a:t>
            </a:r>
            <a:r>
              <a:rPr lang="fr-CH"/>
              <a:t> </a:t>
            </a:r>
            <a:r>
              <a:rPr lang="fr-CH" err="1"/>
              <a:t>instability</a:t>
            </a:r>
            <a:endParaRPr lang="fr-CH"/>
          </a:p>
          <a:p>
            <a:endParaRPr lang="fr-CH"/>
          </a:p>
          <a:p>
            <a:r>
              <a:rPr lang="fr-CH" err="1"/>
              <a:t>Logging</a:t>
            </a:r>
            <a:r>
              <a:rPr lang="fr-CH"/>
              <a:t> message </a:t>
            </a:r>
            <a:r>
              <a:rPr lang="fr-CH" err="1"/>
              <a:t>providing</a:t>
            </a:r>
            <a:r>
              <a:rPr lang="fr-CH"/>
              <a:t> info on a config file</a:t>
            </a:r>
          </a:p>
          <a:p>
            <a:r>
              <a:rPr lang="fr-CH" err="1"/>
              <a:t>Password</a:t>
            </a:r>
            <a:r>
              <a:rPr lang="fr-CH"/>
              <a:t> not </a:t>
            </a:r>
            <a:r>
              <a:rPr lang="fr-CH" err="1"/>
              <a:t>encrypted</a:t>
            </a:r>
            <a:endParaRPr lang="fr-CH"/>
          </a:p>
          <a:p>
            <a:endParaRPr lang="fr-CH"/>
          </a:p>
          <a:p>
            <a:r>
              <a:rPr lang="fr-CH"/>
              <a:t>Security </a:t>
            </a:r>
            <a:r>
              <a:rPr lang="fr-CH" err="1"/>
              <a:t>matters</a:t>
            </a:r>
            <a:r>
              <a:rPr lang="fr-CH"/>
              <a:t> not </a:t>
            </a:r>
            <a:r>
              <a:rPr lang="fr-CH" err="1"/>
              <a:t>only</a:t>
            </a:r>
            <a:r>
              <a:rPr lang="fr-CH"/>
              <a:t> in </a:t>
            </a:r>
            <a:r>
              <a:rPr lang="fr-CH" err="1"/>
              <a:t>development</a:t>
            </a:r>
            <a:r>
              <a:rPr lang="fr-CH"/>
              <a:t> and production but </a:t>
            </a:r>
            <a:r>
              <a:rPr lang="fr-CH" err="1"/>
              <a:t>also</a:t>
            </a:r>
            <a:r>
              <a:rPr lang="fr-CH"/>
              <a:t> in design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8141621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185176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: quelle pourrait être une conception plus sécurisée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395426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94969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22734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6505362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5428971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Problème 1 : </a:t>
            </a:r>
          </a:p>
          <a:p>
            <a:endParaRPr lang="fr-CH"/>
          </a:p>
          <a:p>
            <a:r>
              <a:rPr lang="fr-CH"/>
              <a:t>Une webapp demande une identification mais ne vérifie pas que l’identité est correcte</a:t>
            </a:r>
          </a:p>
          <a:p>
            <a:endParaRPr lang="fr-CH"/>
          </a:p>
          <a:p>
            <a:r>
              <a:rPr lang="fr-CH"/>
              <a:t>Imaginez une personne qui entre dans l’aéroport et prétend être pilote. Au moment de rentrer dans l’avion, est-ce quelqu’un vous a demandé votre identité, que vous avez les bons papiers?</a:t>
            </a:r>
          </a:p>
          <a:p>
            <a:endParaRPr lang="fr-CH"/>
          </a:p>
          <a:p>
            <a:r>
              <a:rPr lang="fr-CH"/>
              <a:t>Cela peut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486310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Problème 1 : </a:t>
            </a:r>
          </a:p>
          <a:p>
            <a:endParaRPr lang="fr-CH"/>
          </a:p>
          <a:p>
            <a:r>
              <a:rPr lang="fr-CH"/>
              <a:t>Une webapp demande une identification mais ne vérifie pas que l’identité est correcte</a:t>
            </a:r>
          </a:p>
          <a:p>
            <a:endParaRPr lang="fr-CH"/>
          </a:p>
          <a:p>
            <a:r>
              <a:rPr lang="fr-CH"/>
              <a:t>Imaginez une personne qui entre dans l’aéroport et prétend être pilote. Au moment de rentrer dans l’avion, est-ce quelqu’un vous a demandé votre identité, que vous avez les bons papiers? Est-ce que l’on vous a demande qqch?</a:t>
            </a:r>
          </a:p>
          <a:p>
            <a:endParaRPr lang="fr-CH"/>
          </a:p>
          <a:p>
            <a:r>
              <a:rPr lang="fr-CH"/>
              <a:t>Problème 2 :</a:t>
            </a:r>
          </a:p>
          <a:p>
            <a:endParaRPr lang="fr-CH"/>
          </a:p>
          <a:p>
            <a:r>
              <a:rPr lang="fr-CH"/>
              <a:t>Dans le cas du pilote, on vous demande une pièce d’identité mais finalement on ne contrôle pas que c’est vous sur la pièce.</a:t>
            </a:r>
          </a:p>
          <a:p>
            <a:endParaRPr lang="fr-CH"/>
          </a:p>
          <a:p>
            <a:r>
              <a:rPr lang="fr-CH"/>
              <a:t>Problème 3: </a:t>
            </a:r>
          </a:p>
          <a:p>
            <a:r>
              <a:rPr lang="fr-CH"/>
              <a:t>Vous faites le plein d’essence et payez. Mais la session est mal fermée, la personne suivante arrive et fait le plein en payant avec votre carte.</a:t>
            </a:r>
          </a:p>
          <a:p>
            <a:endParaRPr lang="fr-CH"/>
          </a:p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7999040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Les exemples sont là pour montrer la complexité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6328407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2035274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Processus Agile, </a:t>
            </a:r>
            <a:r>
              <a:rPr lang="fr-CH" dirty="0" err="1"/>
              <a:t>Devops</a:t>
            </a:r>
            <a:r>
              <a:rPr lang="fr-CH" dirty="0"/>
              <a:t>, CI/CD automatise beaucoup de processus dans le développement d’application.</a:t>
            </a:r>
          </a:p>
          <a:p>
            <a:r>
              <a:rPr lang="fr-CH" dirty="0"/>
              <a:t>Ils permettent d’être plus productif et rapide! Mais attention! =&gt; attaque sur un compte développeur d’une dépendance NPM…</a:t>
            </a: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580904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Les ingrédients sont :</a:t>
            </a:r>
          </a:p>
          <a:p>
            <a:endParaRPr lang="fr-CH"/>
          </a:p>
          <a:p>
            <a:r>
              <a:rPr lang="fr-CH"/>
              <a:t>Le code, les plugins, les librairies…</a:t>
            </a:r>
          </a:p>
          <a:p>
            <a:endParaRPr lang="fr-CH"/>
          </a:p>
          <a:p>
            <a:endParaRPr lang="fr-CH"/>
          </a:p>
          <a:p>
            <a:r>
              <a:rPr lang="fr-CH"/>
              <a:t>Les mises à jour d’un fournisseur peuvent introduire un bug, une faille…</a:t>
            </a:r>
          </a:p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222580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5584416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3907628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0324270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cambrioleur contrôle si les portes de votre voiture sont verrouillées.</a:t>
            </a:r>
          </a:p>
          <a:p>
            <a:endParaRPr lang="fr-CH"/>
          </a:p>
          <a:p>
            <a:r>
              <a:rPr lang="fr-CH"/>
              <a:t>Une porte est ouverte, il rentre dans la voiture et trouve une télécommande de garage, le permis de circulation avec l’adresse.</a:t>
            </a:r>
          </a:p>
          <a:p>
            <a:endParaRPr lang="fr-CH"/>
          </a:p>
          <a:p>
            <a:r>
              <a:rPr lang="fr-CH"/>
              <a:t>Le cambrioleur se rend à l’adresse, ouvre le garage. Il fouille et trouve des clés sur lesquels sont notés :  maison, cave, jardin.</a:t>
            </a:r>
          </a:p>
          <a:p>
            <a:endParaRPr lang="fr-CH"/>
          </a:p>
          <a:p>
            <a:r>
              <a:rPr lang="fr-CH"/>
              <a:t>Il se rend à la maison, ouvre la porte avec la clé et ainsi de suite.</a:t>
            </a:r>
          </a:p>
          <a:p>
            <a:endParaRPr lang="fr-CH"/>
          </a:p>
          <a:p>
            <a:endParaRPr lang="fr-CH"/>
          </a:p>
          <a:p>
            <a:r>
              <a:rPr lang="fr-CH"/>
              <a:t>Et si l’ouvertures des portes étaient surveillées? Le garage? La maison?</a:t>
            </a:r>
          </a:p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3581030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/>
              <a:t>National Cyber Security Center fournit un guide pour bien journaliser les événements afin de détecter une brèche.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/>
              <a:t>Exemple de questions!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/>
          </a:p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8596622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/>
          </a:p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001319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219102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https://www.stationx.net/xss-vs-csrf/#:~:text=XSS%20vs%20CSRF%20vs%20SSRF,-SSRF%20stands%20for&amp;text=In%20short%2C%20XSS%20sneaks%20a,grabbing%20information%20it%20shouldn’t.</a:t>
            </a:r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122324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https://www.stationx.net/xss-vs-csrf/#:~:text=XSS%20vs%20CSRF%20vs%20SSRF,-SSRF%20stands%20for&amp;text=In%20short%2C%20XSS%20sneaks%20a,grabbing%20information%20it%20shouldn’t.</a:t>
            </a:r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7865641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1701613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Common Weakness Enumeration (</a:t>
            </a:r>
            <a:r>
              <a:rPr lang="en-US" i="1"/>
              <a:t>CWE</a:t>
            </a:r>
            <a:r>
              <a:rPr lang="en-US"/>
              <a:t>)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liste</a:t>
            </a:r>
            <a:r>
              <a:rPr lang="en-US"/>
              <a:t> de faiblesses (</a:t>
            </a:r>
            <a:r>
              <a:rPr lang="en-US" err="1"/>
              <a:t>matérielles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logicielles</a:t>
            </a:r>
            <a:r>
              <a:rPr lang="en-US"/>
              <a:t>)</a:t>
            </a:r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1876036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3749260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Log4j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653393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629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4DE0-88DE-4610-BD02-CD38DF49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5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CF7C9-0305-4CBC-8E98-2CC5250FD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285E8-1FCB-9C6D-C719-195577BF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975B0D62-DA5A-4B9E-A99D-C5E052757ED2}" type="datetime1">
              <a:rPr lang="fr-CH" smtClean="0"/>
              <a:t>16.01.2026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CD6F8-6772-ED93-2BF4-D33B7E3D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340608" cy="365125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8AE0E-7542-ADE9-9231-C9491A8E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</p:spTree>
    <p:extLst>
      <p:ext uri="{BB962C8B-B14F-4D97-AF65-F5344CB8AC3E}">
        <p14:creationId xmlns:p14="http://schemas.microsoft.com/office/powerpoint/2010/main" val="170151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print_ligh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 userDrawn="1"/>
        </p:nvGrpSpPr>
        <p:grpSpPr>
          <a:xfrm>
            <a:off x="778021" y="296687"/>
            <a:ext cx="10793490" cy="900000"/>
            <a:chOff x="577340" y="118070"/>
            <a:chExt cx="10793490" cy="979831"/>
          </a:xfrm>
        </p:grpSpPr>
        <p:grpSp>
          <p:nvGrpSpPr>
            <p:cNvPr id="2" name="Groupe 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2362" name="Rectangle 23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3" name="Rectangle 23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4" name="Rectangle 23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5" name="Rectangle 23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6" name="Rectangle 23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7" name="Rectangle 23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8" name="Rectangle 23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9" name="Rectangle 23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0" name="Rectangle 23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1" name="Rectangle 23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2" name="Rectangle 23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3" name="Rectangle 23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4" name="Rectangle 23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5" name="Rectangle 23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6" name="Rectangle 23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7" name="Rectangle 23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8" name="Rectangle 23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9" name="Rectangle 23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0" name="Rectangle 23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1" name="Rectangle 23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2" name="Rectangle 23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3" name="Rectangle 23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4" name="Rectangle 23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5" name="Rectangle 23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6" name="Rectangle 23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1" name="Rectangle 23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2356" name="Groupe 235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2357" name="Rectangle 23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58" name="Rectangle 23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2" name="Rectangle 47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3" name="Rectangle 47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4" name="Rectangle 47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5" name="Rectangle 47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6" name="Rectangle 47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7" name="Rectangle 47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8" name="Rectangle 47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9" name="Rectangle 47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0" name="Rectangle 47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1" name="Rectangle 47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2" name="Rectangle 47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3" name="Rectangle 47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4" name="Rectangle 47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5" name="Rectangle 47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6" name="Rectangle 47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7" name="Rectangle 47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8" name="Rectangle 47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9" name="Rectangle 47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0" name="Rectangle 47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1" name="Rectangle 47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2" name="Rectangle 47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3" name="Rectangle 47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4" name="Rectangle 47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5" name="Rectangle 47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36" name="Groupe 4735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4737" name="Rectangle 47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8" name="Rectangle 47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9" name="Rectangle 47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0" name="Rectangle 47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1" name="Rectangle 47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2" name="Rectangle 47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3" name="Rectangle 47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4" name="Rectangle 47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5" name="Rectangle 47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6" name="Rectangle 47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7" name="Rectangle 47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8" name="Rectangle 47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9" name="Rectangle 47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0" name="Rectangle 47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1" name="Rectangle 47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2" name="Rectangle 47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3" name="Rectangle 47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4" name="Rectangle 47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5" name="Rectangle 47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6" name="Rectangle 47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7" name="Rectangle 47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8" name="Rectangle 47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9" name="Rectangle 47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0" name="Rectangle 47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1" name="Rectangle 47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2" name="Rectangle 47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63" name="Groupe 4762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4764" name="Rectangle 47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5" name="Rectangle 47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6" name="Rectangle 47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7" name="Rectangle 47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8" name="Rectangle 47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9" name="Rectangle 47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0" name="Rectangle 47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1" name="Rectangle 47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2" name="Rectangle 47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3" name="Rectangle 47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4" name="Rectangle 47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5" name="Rectangle 47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6" name="Rectangle 47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7" name="Rectangle 47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8" name="Rectangle 47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9" name="Rectangle 47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0" name="Rectangle 47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1" name="Rectangle 47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2" name="Rectangle 47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3" name="Rectangle 47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4" name="Rectangle 47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5" name="Rectangle 47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6" name="Rectangle 47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7" name="Rectangle 47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8" name="Rectangle 47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9" name="Rectangle 47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898" name="Groupe 4897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4899" name="Rectangle 489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0" name="Rectangle 489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1" name="Rectangle 490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2" name="Rectangle 490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3" name="Rectangle 490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4" name="Rectangle 490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5" name="Rectangle 490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6" name="Rectangle 490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7" name="Rectangle 490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8" name="Rectangle 490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9" name="Rectangle 490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0" name="Rectangle 490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1" name="Rectangle 491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2" name="Rectangle 491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3" name="Rectangle 491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4" name="Rectangle 491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5" name="Rectangle 491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6" name="Rectangle 491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7" name="Rectangle 491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8" name="Rectangle 491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9" name="Rectangle 491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0" name="Rectangle 491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1" name="Rectangle 492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2" name="Rectangle 492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3" name="Rectangle 492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4" name="Rectangle 492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25" name="Groupe 4924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4926" name="Rectangle 492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7" name="Rectangle 492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8" name="Rectangle 492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9" name="Rectangle 492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0" name="Rectangle 492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1" name="Rectangle 493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2" name="Rectangle 493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3" name="Rectangle 493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4" name="Rectangle 493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5" name="Rectangle 493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6" name="Rectangle 493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7" name="Rectangle 493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8" name="Rectangle 493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9" name="Rectangle 493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0" name="Rectangle 493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1" name="Rectangle 494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2" name="Rectangle 494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3" name="Rectangle 494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4" name="Rectangle 494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5" name="Rectangle 494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6" name="Rectangle 494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7" name="Rectangle 494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8" name="Rectangle 494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9" name="Rectangle 494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0" name="Rectangle 494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1" name="Rectangle 495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52" name="Groupe 4951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4953" name="Rectangle 49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4" name="Rectangle 49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5" name="Rectangle 49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6" name="Rectangle 49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7" name="Rectangle 49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8" name="Rectangle 49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9" name="Rectangle 49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0" name="Rectangle 49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1" name="Rectangle 49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2" name="Rectangle 49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3" name="Rectangle 49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4" name="Rectangle 49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5" name="Rectangle 49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6" name="Rectangle 49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7" name="Rectangle 49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8" name="Rectangle 49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9" name="Rectangle 49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0" name="Rectangle 49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1" name="Rectangle 49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2" name="Rectangle 49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3" name="Rectangle 49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4" name="Rectangle 49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5" name="Rectangle 49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6" name="Rectangle 49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7" name="Rectangle 49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8" name="Rectangle 49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79" name="Groupe 497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4980" name="Rectangle 49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1" name="Rectangle 49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2" name="Rectangle 49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3" name="Rectangle 49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4" name="Rectangle 49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5" name="Rectangle 49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6" name="Rectangle 49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7" name="Rectangle 49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8" name="Rectangle 49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9" name="Rectangle 49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0" name="Rectangle 49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1" name="Rectangle 49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2" name="Rectangle 49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3" name="Rectangle 49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4" name="Rectangle 49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5" name="Rectangle 49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6" name="Rectangle 49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7" name="Rectangle 49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8" name="Rectangle 49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9" name="Rectangle 49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0" name="Rectangle 49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1" name="Rectangle 50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2" name="Rectangle 50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3" name="Rectangle 50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4" name="Rectangle 50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5" name="Rectangle 50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06" name="Groupe 5005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007" name="Rectangle 50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8" name="Rectangle 50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9" name="Rectangle 50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0" name="Rectangle 50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1" name="Rectangle 50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2" name="Rectangle 50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3" name="Rectangle 50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4" name="Rectangle 50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5" name="Rectangle 50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6" name="Rectangle 50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7" name="Rectangle 50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8" name="Rectangle 50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9" name="Rectangle 50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0" name="Rectangle 50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1" name="Rectangle 50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2" name="Rectangle 50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3" name="Rectangle 50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4" name="Rectangle 50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5" name="Rectangle 50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6" name="Rectangle 50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7" name="Rectangle 50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8" name="Rectangle 50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9" name="Rectangle 50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0" name="Rectangle 50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1" name="Rectangle 50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2" name="Rectangle 50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33" name="Groupe 5032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034" name="Rectangle 50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5" name="Rectangle 50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6" name="Rectangle 50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7" name="Rectangle 50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8" name="Rectangle 50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9" name="Rectangle 50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0" name="Rectangle 50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1" name="Rectangle 50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2" name="Rectangle 50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3" name="Rectangle 50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4" name="Rectangle 50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5" name="Rectangle 50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6" name="Rectangle 50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7" name="Rectangle 50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8" name="Rectangle 50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9" name="Rectangle 50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0" name="Rectangle 50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1" name="Rectangle 50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2" name="Rectangle 50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3" name="Rectangle 50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4" name="Rectangle 50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5" name="Rectangle 50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6" name="Rectangle 50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7" name="Rectangle 50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8" name="Rectangle 50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9" name="Rectangle 50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60" name="Groupe 5059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061" name="Rectangle 50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2" name="Rectangle 50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3" name="Rectangle 50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4" name="Rectangle 50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5" name="Rectangle 50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6" name="Rectangle 50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7" name="Rectangle 50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8" name="Rectangle 50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9" name="Rectangle 50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0" name="Rectangle 50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1" name="Rectangle 50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2" name="Rectangle 50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3" name="Rectangle 50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4" name="Rectangle 50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5" name="Rectangle 50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6" name="Rectangle 50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7" name="Rectangle 50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8" name="Rectangle 50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9" name="Rectangle 50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0" name="Rectangle 50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1" name="Rectangle 50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2" name="Rectangle 50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3" name="Rectangle 50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4" name="Rectangle 50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5" name="Rectangle 50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6" name="Rectangle 50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87" name="Groupe 5086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088" name="Rectangle 50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9" name="Rectangle 50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0" name="Rectangle 50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1" name="Rectangle 50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2" name="Rectangle 50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3" name="Rectangle 50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4" name="Rectangle 50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5" name="Rectangle 50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6" name="Rectangle 50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7" name="Rectangle 50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8" name="Rectangle 50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9" name="Rectangle 50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0" name="Rectangle 50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1" name="Rectangle 51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2" name="Rectangle 51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3" name="Rectangle 51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4" name="Rectangle 51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5" name="Rectangle 51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6" name="Rectangle 51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7" name="Rectangle 51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8" name="Rectangle 51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9" name="Rectangle 51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0" name="Rectangle 51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1" name="Rectangle 51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2" name="Rectangle 51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3" name="Rectangle 51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5114" name="Groupe 5113"/>
          <p:cNvGrpSpPr/>
          <p:nvPr userDrawn="1"/>
        </p:nvGrpSpPr>
        <p:grpSpPr>
          <a:xfrm>
            <a:off x="778021" y="1190492"/>
            <a:ext cx="10793490" cy="900000"/>
            <a:chOff x="577340" y="118070"/>
            <a:chExt cx="10793490" cy="979831"/>
          </a:xfrm>
        </p:grpSpPr>
        <p:grpSp>
          <p:nvGrpSpPr>
            <p:cNvPr id="5115" name="Groupe 5114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5413" name="Rectangle 54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4" name="Rectangle 54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5" name="Rectangle 54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6" name="Rectangle 54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7" name="Rectangle 54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8" name="Rectangle 54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9" name="Rectangle 54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0" name="Rectangle 54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1" name="Rectangle 54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2" name="Rectangle 54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3" name="Rectangle 54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4" name="Rectangle 54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5" name="Rectangle 54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6" name="Rectangle 54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7" name="Rectangle 54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8" name="Rectangle 54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9" name="Rectangle 54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0" name="Rectangle 54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1" name="Rectangle 54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2" name="Rectangle 54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3" name="Rectangle 54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4" name="Rectangle 54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5" name="Rectangle 54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6" name="Rectangle 54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7" name="Rectangle 54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8" name="Rectangle 54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6" name="Groupe 511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5387" name="Rectangle 53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8" name="Rectangle 53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9" name="Rectangle 53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0" name="Rectangle 53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1" name="Rectangle 53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2" name="Rectangle 53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3" name="Rectangle 53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4" name="Rectangle 53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5" name="Rectangle 53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6" name="Rectangle 53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7" name="Rectangle 53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8" name="Rectangle 53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9" name="Rectangle 53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0" name="Rectangle 53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1" name="Rectangle 54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2" name="Rectangle 54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3" name="Rectangle 54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4" name="Rectangle 54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5" name="Rectangle 54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6" name="Rectangle 54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7" name="Rectangle 54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8" name="Rectangle 54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9" name="Rectangle 54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0" name="Rectangle 54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1" name="Rectangle 54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2" name="Rectangle 54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7" name="Groupe 5116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5361" name="Rectangle 53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2" name="Rectangle 53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3" name="Rectangle 53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4" name="Rectangle 53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5" name="Rectangle 53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6" name="Rectangle 53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7" name="Rectangle 53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8" name="Rectangle 53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9" name="Rectangle 53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0" name="Rectangle 53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1" name="Rectangle 53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2" name="Rectangle 53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3" name="Rectangle 53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4" name="Rectangle 53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5" name="Rectangle 53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6" name="Rectangle 53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7" name="Rectangle 53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8" name="Rectangle 53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9" name="Rectangle 53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0" name="Rectangle 53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1" name="Rectangle 53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2" name="Rectangle 53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3" name="Rectangle 53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4" name="Rectangle 53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5" name="Rectangle 53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6" name="Rectangle 53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8" name="Groupe 5117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5335" name="Rectangle 53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6" name="Rectangle 53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7" name="Rectangle 53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8" name="Rectangle 53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9" name="Rectangle 53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0" name="Rectangle 53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1" name="Rectangle 53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2" name="Rectangle 53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3" name="Rectangle 53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4" name="Rectangle 53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5" name="Rectangle 53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6" name="Rectangle 53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7" name="Rectangle 53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8" name="Rectangle 53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9" name="Rectangle 53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0" name="Rectangle 53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1" name="Rectangle 53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2" name="Rectangle 53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3" name="Rectangle 53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4" name="Rectangle 53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5" name="Rectangle 53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6" name="Rectangle 53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7" name="Rectangle 53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8" name="Rectangle 53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9" name="Rectangle 53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0" name="Rectangle 53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9" name="Groupe 5118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5309" name="Rectangle 53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0" name="Rectangle 53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1" name="Rectangle 53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2" name="Rectangle 53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3" name="Rectangle 53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4" name="Rectangle 53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5" name="Rectangle 53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6" name="Rectangle 53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7" name="Rectangle 53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8" name="Rectangle 53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9" name="Rectangle 53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0" name="Rectangle 53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1" name="Rectangle 53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2" name="Rectangle 53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3" name="Rectangle 53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4" name="Rectangle 53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5" name="Rectangle 53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6" name="Rectangle 53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7" name="Rectangle 53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8" name="Rectangle 53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9" name="Rectangle 53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0" name="Rectangle 53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1" name="Rectangle 53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2" name="Rectangle 53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3" name="Rectangle 53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4" name="Rectangle 53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0" name="Groupe 5119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5283" name="Rectangle 52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4" name="Rectangle 52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5" name="Rectangle 52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6" name="Rectangle 52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7" name="Rectangle 52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8" name="Rectangle 52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9" name="Rectangle 52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0" name="Rectangle 52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1" name="Rectangle 52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2" name="Rectangle 52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3" name="Rectangle 52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4" name="Rectangle 52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5" name="Rectangle 52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6" name="Rectangle 52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7" name="Rectangle 52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8" name="Rectangle 52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9" name="Rectangle 52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0" name="Rectangle 52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1" name="Rectangle 53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2" name="Rectangle 53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3" name="Rectangle 53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4" name="Rectangle 53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5" name="Rectangle 53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6" name="Rectangle 53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7" name="Rectangle 53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8" name="Rectangle 53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1" name="Groupe 5120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5257" name="Rectangle 52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8" name="Rectangle 52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9" name="Rectangle 52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0" name="Rectangle 52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1" name="Rectangle 52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2" name="Rectangle 52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3" name="Rectangle 52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4" name="Rectangle 52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5" name="Rectangle 52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6" name="Rectangle 52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7" name="Rectangle 52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8" name="Rectangle 52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9" name="Rectangle 52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0" name="Rectangle 52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1" name="Rectangle 52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2" name="Rectangle 52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3" name="Rectangle 52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4" name="Rectangle 52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5" name="Rectangle 52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6" name="Rectangle 52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7" name="Rectangle 52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8" name="Rectangle 52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9" name="Rectangle 52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0" name="Rectangle 52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1" name="Rectangle 52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2" name="Rectangle 52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2" name="Groupe 5121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5231" name="Rectangle 52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2" name="Rectangle 52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3" name="Rectangle 52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4" name="Rectangle 52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5" name="Rectangle 52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6" name="Rectangle 52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7" name="Rectangle 52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8" name="Rectangle 52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9" name="Rectangle 52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0" name="Rectangle 52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1" name="Rectangle 52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2" name="Rectangle 52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3" name="Rectangle 52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4" name="Rectangle 52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5" name="Rectangle 52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6" name="Rectangle 52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7" name="Rectangle 52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8" name="Rectangle 52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9" name="Rectangle 52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0" name="Rectangle 52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1" name="Rectangle 52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2" name="Rectangle 52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3" name="Rectangle 52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4" name="Rectangle 52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5" name="Rectangle 52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6" name="Rectangle 52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3" name="Groupe 5122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205" name="Rectangle 52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6" name="Rectangle 52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7" name="Rectangle 52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8" name="Rectangle 52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9" name="Rectangle 52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0" name="Rectangle 52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1" name="Rectangle 52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2" name="Rectangle 52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3" name="Rectangle 52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4" name="Rectangle 52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5" name="Rectangle 52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6" name="Rectangle 52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7" name="Rectangle 52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8" name="Rectangle 52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9" name="Rectangle 52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0" name="Rectangle 52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1" name="Rectangle 52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2" name="Rectangle 52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3" name="Rectangle 52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4" name="Rectangle 52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5" name="Rectangle 52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6" name="Rectangle 52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7" name="Rectangle 52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8" name="Rectangle 52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9" name="Rectangle 52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0" name="Rectangle 52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4" name="Groupe 5123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179" name="Rectangle 51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0" name="Rectangle 51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1" name="Rectangle 51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2" name="Rectangle 51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3" name="Rectangle 51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4" name="Rectangle 51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5" name="Rectangle 51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6" name="Rectangle 51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7" name="Rectangle 51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8" name="Rectangle 51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9" name="Rectangle 51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0" name="Rectangle 51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1" name="Rectangle 51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2" name="Rectangle 51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3" name="Rectangle 51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4" name="Rectangle 51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5" name="Rectangle 51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6" name="Rectangle 51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7" name="Rectangle 51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8" name="Rectangle 51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9" name="Rectangle 51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0" name="Rectangle 51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1" name="Rectangle 52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2" name="Rectangle 52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3" name="Rectangle 52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4" name="Rectangle 52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5" name="Groupe 5124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153" name="Rectangle 51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4" name="Rectangle 51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5" name="Rectangle 51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6" name="Rectangle 51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7" name="Rectangle 51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8" name="Rectangle 51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9" name="Rectangle 51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0" name="Rectangle 51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1" name="Rectangle 51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2" name="Rectangle 51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3" name="Rectangle 51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4" name="Rectangle 51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5" name="Rectangle 51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6" name="Rectangle 51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7" name="Rectangle 51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8" name="Rectangle 51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9" name="Rectangle 51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0" name="Rectangle 51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1" name="Rectangle 51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2" name="Rectangle 51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3" name="Rectangle 51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4" name="Rectangle 51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5" name="Rectangle 51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6" name="Rectangle 51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7" name="Rectangle 51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8" name="Rectangle 51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6" name="Groupe 5125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127" name="Rectangle 512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8" name="Rectangle 512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9" name="Rectangle 512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0" name="Rectangle 512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1" name="Rectangle 513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2" name="Rectangle 513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3" name="Rectangle 513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4" name="Rectangle 513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5" name="Rectangle 513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6" name="Rectangle 513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7" name="Rectangle 513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8" name="Rectangle 513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9" name="Rectangle 513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0" name="Rectangle 513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1" name="Rectangle 514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2" name="Rectangle 514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3" name="Rectangle 514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4" name="Rectangle 514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5" name="Rectangle 514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6" name="Rectangle 514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7" name="Rectangle 514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8" name="Rectangle 514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9" name="Rectangle 514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0" name="Rectangle 514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1" name="Rectangle 515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2" name="Rectangle 515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cxnSp>
        <p:nvCxnSpPr>
          <p:cNvPr id="6" name="Connecteur droit 5"/>
          <p:cNvCxnSpPr/>
          <p:nvPr userDrawn="1"/>
        </p:nvCxnSpPr>
        <p:spPr>
          <a:xfrm>
            <a:off x="6174766" y="0"/>
            <a:ext cx="0" cy="14224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91" name="Groupe 7090"/>
          <p:cNvGrpSpPr/>
          <p:nvPr userDrawn="1"/>
        </p:nvGrpSpPr>
        <p:grpSpPr>
          <a:xfrm>
            <a:off x="778021" y="2090491"/>
            <a:ext cx="10793490" cy="900000"/>
            <a:chOff x="577340" y="118070"/>
            <a:chExt cx="10793490" cy="979831"/>
          </a:xfrm>
        </p:grpSpPr>
        <p:grpSp>
          <p:nvGrpSpPr>
            <p:cNvPr id="7092" name="Groupe 70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390" name="Rectangle 73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1" name="Rectangle 73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2" name="Rectangle 73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3" name="Rectangle 73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4" name="Rectangle 73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5" name="Rectangle 73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6" name="Rectangle 73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7" name="Rectangle 73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8" name="Rectangle 73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9" name="Rectangle 73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0" name="Rectangle 73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1" name="Rectangle 74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2" name="Rectangle 74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3" name="Rectangle 74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4" name="Rectangle 74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5" name="Rectangle 74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6" name="Rectangle 74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7" name="Rectangle 74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8" name="Rectangle 74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9" name="Rectangle 74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0" name="Rectangle 74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1" name="Rectangle 74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2" name="Rectangle 74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3" name="Rectangle 74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4" name="Rectangle 74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5" name="Rectangle 74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3" name="Groupe 70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364" name="Rectangle 73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5" name="Rectangle 73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6" name="Rectangle 73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7" name="Rectangle 73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8" name="Rectangle 73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9" name="Rectangle 73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0" name="Rectangle 73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1" name="Rectangle 73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2" name="Rectangle 73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3" name="Rectangle 73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4" name="Rectangle 73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5" name="Rectangle 73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6" name="Rectangle 73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7" name="Rectangle 73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8" name="Rectangle 73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9" name="Rectangle 73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0" name="Rectangle 73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1" name="Rectangle 73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2" name="Rectangle 73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3" name="Rectangle 73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4" name="Rectangle 73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5" name="Rectangle 73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6" name="Rectangle 73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7" name="Rectangle 73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8" name="Rectangle 73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9" name="Rectangle 73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4" name="Groupe 70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338" name="Rectangle 73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9" name="Rectangle 73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0" name="Rectangle 73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1" name="Rectangle 73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2" name="Rectangle 73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3" name="Rectangle 73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4" name="Rectangle 73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5" name="Rectangle 73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6" name="Rectangle 73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7" name="Rectangle 73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8" name="Rectangle 73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9" name="Rectangle 73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0" name="Rectangle 73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1" name="Rectangle 73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2" name="Rectangle 73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3" name="Rectangle 73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4" name="Rectangle 73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5" name="Rectangle 73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6" name="Rectangle 73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7" name="Rectangle 73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8" name="Rectangle 73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9" name="Rectangle 73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0" name="Rectangle 73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1" name="Rectangle 73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2" name="Rectangle 73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3" name="Rectangle 73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5" name="Groupe 70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312" name="Rectangle 73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3" name="Rectangle 73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4" name="Rectangle 73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5" name="Rectangle 73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6" name="Rectangle 73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7" name="Rectangle 73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8" name="Rectangle 73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9" name="Rectangle 73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0" name="Rectangle 73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1" name="Rectangle 73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2" name="Rectangle 73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3" name="Rectangle 73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4" name="Rectangle 73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5" name="Rectangle 73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6" name="Rectangle 73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7" name="Rectangle 73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8" name="Rectangle 73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9" name="Rectangle 73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0" name="Rectangle 73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1" name="Rectangle 73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2" name="Rectangle 73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3" name="Rectangle 73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4" name="Rectangle 73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5" name="Rectangle 73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6" name="Rectangle 73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7" name="Rectangle 73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6" name="Groupe 70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286" name="Rectangle 72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7" name="Rectangle 72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8" name="Rectangle 72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9" name="Rectangle 72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0" name="Rectangle 72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1" name="Rectangle 72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2" name="Rectangle 72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3" name="Rectangle 72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4" name="Rectangle 72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5" name="Rectangle 72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6" name="Rectangle 72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7" name="Rectangle 72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8" name="Rectangle 72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9" name="Rectangle 72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0" name="Rectangle 72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1" name="Rectangle 73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2" name="Rectangle 73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3" name="Rectangle 73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4" name="Rectangle 73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5" name="Rectangle 73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6" name="Rectangle 73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7" name="Rectangle 73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8" name="Rectangle 73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9" name="Rectangle 73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0" name="Rectangle 73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1" name="Rectangle 73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7" name="Groupe 70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260" name="Rectangle 72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1" name="Rectangle 72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2" name="Rectangle 72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3" name="Rectangle 72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4" name="Rectangle 72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5" name="Rectangle 72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6" name="Rectangle 72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7" name="Rectangle 72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8" name="Rectangle 72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9" name="Rectangle 72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0" name="Rectangle 72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1" name="Rectangle 72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2" name="Rectangle 72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3" name="Rectangle 72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4" name="Rectangle 72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5" name="Rectangle 72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6" name="Rectangle 72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7" name="Rectangle 72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8" name="Rectangle 72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9" name="Rectangle 72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0" name="Rectangle 72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1" name="Rectangle 72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2" name="Rectangle 72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3" name="Rectangle 72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4" name="Rectangle 72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5" name="Rectangle 72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8" name="Groupe 70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234" name="Rectangle 72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5" name="Rectangle 72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6" name="Rectangle 72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7" name="Rectangle 72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8" name="Rectangle 72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9" name="Rectangle 72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0" name="Rectangle 72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1" name="Rectangle 72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2" name="Rectangle 72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3" name="Rectangle 72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4" name="Rectangle 72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5" name="Rectangle 72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6" name="Rectangle 72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7" name="Rectangle 72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8" name="Rectangle 72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9" name="Rectangle 72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0" name="Rectangle 72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1" name="Rectangle 72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2" name="Rectangle 72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3" name="Rectangle 72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4" name="Rectangle 72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5" name="Rectangle 72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6" name="Rectangle 72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7" name="Rectangle 72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8" name="Rectangle 72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9" name="Rectangle 72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9" name="Groupe 70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208" name="Rectangle 72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9" name="Rectangle 72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0" name="Rectangle 72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1" name="Rectangle 72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2" name="Rectangle 72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3" name="Rectangle 72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4" name="Rectangle 72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5" name="Rectangle 72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6" name="Rectangle 72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7" name="Rectangle 72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8" name="Rectangle 72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9" name="Rectangle 72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0" name="Rectangle 72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1" name="Rectangle 72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2" name="Rectangle 72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3" name="Rectangle 72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4" name="Rectangle 72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5" name="Rectangle 72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6" name="Rectangle 72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7" name="Rectangle 72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8" name="Rectangle 72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9" name="Rectangle 72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0" name="Rectangle 72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1" name="Rectangle 72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2" name="Rectangle 72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3" name="Rectangle 72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0" name="Groupe 70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182" name="Rectangle 71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3" name="Rectangle 71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4" name="Rectangle 71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5" name="Rectangle 71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6" name="Rectangle 71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7" name="Rectangle 71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8" name="Rectangle 71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9" name="Rectangle 71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0" name="Rectangle 71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1" name="Rectangle 71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2" name="Rectangle 71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3" name="Rectangle 71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4" name="Rectangle 71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5" name="Rectangle 71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6" name="Rectangle 71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7" name="Rectangle 71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8" name="Rectangle 71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9" name="Rectangle 71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0" name="Rectangle 71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1" name="Rectangle 72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2" name="Rectangle 72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3" name="Rectangle 72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4" name="Rectangle 72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5" name="Rectangle 72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6" name="Rectangle 72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7" name="Rectangle 72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1" name="Groupe 71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156" name="Rectangle 71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7" name="Rectangle 71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8" name="Rectangle 71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9" name="Rectangle 71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0" name="Rectangle 71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1" name="Rectangle 71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2" name="Rectangle 71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3" name="Rectangle 71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4" name="Rectangle 71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5" name="Rectangle 71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6" name="Rectangle 71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7" name="Rectangle 71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8" name="Rectangle 71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9" name="Rectangle 71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0" name="Rectangle 71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1" name="Rectangle 71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2" name="Rectangle 71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3" name="Rectangle 71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4" name="Rectangle 71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5" name="Rectangle 71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6" name="Rectangle 71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7" name="Rectangle 71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8" name="Rectangle 71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9" name="Rectangle 71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0" name="Rectangle 71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1" name="Rectangle 71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2" name="Groupe 71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130" name="Rectangle 71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1" name="Rectangle 71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2" name="Rectangle 71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3" name="Rectangle 71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4" name="Rectangle 71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5" name="Rectangle 71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6" name="Rectangle 71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7" name="Rectangle 71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8" name="Rectangle 71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9" name="Rectangle 71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0" name="Rectangle 71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1" name="Rectangle 71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2" name="Rectangle 71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3" name="Rectangle 71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4" name="Rectangle 71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5" name="Rectangle 71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6" name="Rectangle 71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7" name="Rectangle 71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8" name="Rectangle 71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9" name="Rectangle 71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0" name="Rectangle 71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1" name="Rectangle 71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2" name="Rectangle 71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3" name="Rectangle 71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4" name="Rectangle 71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5" name="Rectangle 71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3" name="Groupe 71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104" name="Rectangle 71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5" name="Rectangle 71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6" name="Rectangle 71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7" name="Rectangle 71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8" name="Rectangle 71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9" name="Rectangle 71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0" name="Rectangle 71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1" name="Rectangle 71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2" name="Rectangle 71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3" name="Rectangle 71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4" name="Rectangle 71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5" name="Rectangle 71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6" name="Rectangle 71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7" name="Rectangle 71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8" name="Rectangle 71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9" name="Rectangle 71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0" name="Rectangle 71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1" name="Rectangle 71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2" name="Rectangle 71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3" name="Rectangle 71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4" name="Rectangle 71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5" name="Rectangle 71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6" name="Rectangle 71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7" name="Rectangle 71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8" name="Rectangle 71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9" name="Rectangle 71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416" name="Groupe 7415"/>
          <p:cNvGrpSpPr/>
          <p:nvPr userDrawn="1"/>
        </p:nvGrpSpPr>
        <p:grpSpPr>
          <a:xfrm>
            <a:off x="778021" y="2984296"/>
            <a:ext cx="10793490" cy="900000"/>
            <a:chOff x="577340" y="118070"/>
            <a:chExt cx="10793490" cy="979831"/>
          </a:xfrm>
        </p:grpSpPr>
        <p:grpSp>
          <p:nvGrpSpPr>
            <p:cNvPr id="7417" name="Groupe 741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715" name="Rectangle 771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6" name="Rectangle 771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7" name="Rectangle 771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8" name="Rectangle 771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9" name="Rectangle 771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0" name="Rectangle 771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1" name="Rectangle 772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2" name="Rectangle 772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3" name="Rectangle 772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4" name="Rectangle 772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5" name="Rectangle 772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6" name="Rectangle 772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7" name="Rectangle 772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8" name="Rectangle 772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9" name="Rectangle 772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0" name="Rectangle 772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1" name="Rectangle 773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2" name="Rectangle 773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3" name="Rectangle 773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4" name="Rectangle 773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5" name="Rectangle 773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6" name="Rectangle 773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7" name="Rectangle 773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8" name="Rectangle 773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9" name="Rectangle 773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40" name="Rectangle 773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8" name="Groupe 741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689" name="Rectangle 768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0" name="Rectangle 768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1" name="Rectangle 769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2" name="Rectangle 769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3" name="Rectangle 769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4" name="Rectangle 769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5" name="Rectangle 769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6" name="Rectangle 769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7" name="Rectangle 769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8" name="Rectangle 769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9" name="Rectangle 769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0" name="Rectangle 769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1" name="Rectangle 770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2" name="Rectangle 770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3" name="Rectangle 770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4" name="Rectangle 770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5" name="Rectangle 770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6" name="Rectangle 770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7" name="Rectangle 770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8" name="Rectangle 770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9" name="Rectangle 770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0" name="Rectangle 770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1" name="Rectangle 771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2" name="Rectangle 771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3" name="Rectangle 771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4" name="Rectangle 771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9" name="Groupe 741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663" name="Rectangle 766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4" name="Rectangle 766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5" name="Rectangle 766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6" name="Rectangle 766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7" name="Rectangle 766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8" name="Rectangle 766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9" name="Rectangle 766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0" name="Rectangle 766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1" name="Rectangle 767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2" name="Rectangle 767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3" name="Rectangle 767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4" name="Rectangle 767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5" name="Rectangle 767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6" name="Rectangle 767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7" name="Rectangle 767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8" name="Rectangle 767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9" name="Rectangle 767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0" name="Rectangle 767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1" name="Rectangle 768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2" name="Rectangle 768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3" name="Rectangle 768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4" name="Rectangle 768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5" name="Rectangle 768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6" name="Rectangle 768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7" name="Rectangle 768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8" name="Rectangle 768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0" name="Groupe 741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637" name="Rectangle 76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8" name="Rectangle 76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9" name="Rectangle 76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0" name="Rectangle 76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1" name="Rectangle 76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2" name="Rectangle 76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3" name="Rectangle 76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4" name="Rectangle 76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5" name="Rectangle 76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6" name="Rectangle 76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7" name="Rectangle 76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8" name="Rectangle 76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9" name="Rectangle 76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0" name="Rectangle 76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1" name="Rectangle 76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2" name="Rectangle 76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3" name="Rectangle 76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4" name="Rectangle 76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5" name="Rectangle 76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6" name="Rectangle 76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7" name="Rectangle 76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8" name="Rectangle 76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9" name="Rectangle 76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0" name="Rectangle 76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1" name="Rectangle 76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2" name="Rectangle 76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1" name="Groupe 742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611" name="Rectangle 761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2" name="Rectangle 761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3" name="Rectangle 761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4" name="Rectangle 761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5" name="Rectangle 761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6" name="Rectangle 761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7" name="Rectangle 761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8" name="Rectangle 761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9" name="Rectangle 761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0" name="Rectangle 761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1" name="Rectangle 762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2" name="Rectangle 762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3" name="Rectangle 762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4" name="Rectangle 762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5" name="Rectangle 762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6" name="Rectangle 762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7" name="Rectangle 762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8" name="Rectangle 762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9" name="Rectangle 762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0" name="Rectangle 762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1" name="Rectangle 763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2" name="Rectangle 763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3" name="Rectangle 763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4" name="Rectangle 763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5" name="Rectangle 763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6" name="Rectangle 763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2" name="Groupe 742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585" name="Rectangle 758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6" name="Rectangle 758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7" name="Rectangle 758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8" name="Rectangle 758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9" name="Rectangle 758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0" name="Rectangle 758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1" name="Rectangle 759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2" name="Rectangle 759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3" name="Rectangle 759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4" name="Rectangle 759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5" name="Rectangle 759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6" name="Rectangle 759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7" name="Rectangle 759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8" name="Rectangle 759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9" name="Rectangle 759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0" name="Rectangle 759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1" name="Rectangle 760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2" name="Rectangle 760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3" name="Rectangle 760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4" name="Rectangle 760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5" name="Rectangle 760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6" name="Rectangle 760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7" name="Rectangle 760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8" name="Rectangle 760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9" name="Rectangle 760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0" name="Rectangle 760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3" name="Groupe 742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559" name="Rectangle 755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0" name="Rectangle 755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1" name="Rectangle 756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2" name="Rectangle 756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3" name="Rectangle 756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4" name="Rectangle 756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5" name="Rectangle 756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6" name="Rectangle 756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7" name="Rectangle 756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8" name="Rectangle 756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9" name="Rectangle 756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0" name="Rectangle 756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1" name="Rectangle 757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2" name="Rectangle 757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3" name="Rectangle 757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4" name="Rectangle 757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5" name="Rectangle 757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6" name="Rectangle 757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7" name="Rectangle 757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8" name="Rectangle 757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9" name="Rectangle 757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0" name="Rectangle 757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1" name="Rectangle 758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2" name="Rectangle 758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3" name="Rectangle 758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4" name="Rectangle 758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4" name="Groupe 742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533" name="Rectangle 753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4" name="Rectangle 753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5" name="Rectangle 753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6" name="Rectangle 753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7" name="Rectangle 753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8" name="Rectangle 753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9" name="Rectangle 753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0" name="Rectangle 753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1" name="Rectangle 754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2" name="Rectangle 754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3" name="Rectangle 754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4" name="Rectangle 754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5" name="Rectangle 754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6" name="Rectangle 754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7" name="Rectangle 754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8" name="Rectangle 754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9" name="Rectangle 754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0" name="Rectangle 754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1" name="Rectangle 755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2" name="Rectangle 755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3" name="Rectangle 755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4" name="Rectangle 755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5" name="Rectangle 755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6" name="Rectangle 755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7" name="Rectangle 755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8" name="Rectangle 755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5" name="Groupe 742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507" name="Rectangle 75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8" name="Rectangle 75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9" name="Rectangle 75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0" name="Rectangle 75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1" name="Rectangle 75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2" name="Rectangle 75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3" name="Rectangle 75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4" name="Rectangle 75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5" name="Rectangle 75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6" name="Rectangle 75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7" name="Rectangle 75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8" name="Rectangle 75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9" name="Rectangle 75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0" name="Rectangle 75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1" name="Rectangle 75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2" name="Rectangle 75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3" name="Rectangle 75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4" name="Rectangle 75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5" name="Rectangle 75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6" name="Rectangle 75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7" name="Rectangle 75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8" name="Rectangle 75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9" name="Rectangle 75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0" name="Rectangle 75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1" name="Rectangle 75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2" name="Rectangle 75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6" name="Groupe 742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481" name="Rectangle 748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2" name="Rectangle 748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3" name="Rectangle 748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4" name="Rectangle 748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5" name="Rectangle 748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6" name="Rectangle 748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7" name="Rectangle 748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8" name="Rectangle 748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9" name="Rectangle 748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0" name="Rectangle 748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1" name="Rectangle 749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2" name="Rectangle 749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3" name="Rectangle 749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4" name="Rectangle 749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5" name="Rectangle 749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6" name="Rectangle 749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7" name="Rectangle 749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8" name="Rectangle 749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9" name="Rectangle 749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0" name="Rectangle 749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1" name="Rectangle 750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2" name="Rectangle 750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3" name="Rectangle 750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4" name="Rectangle 750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5" name="Rectangle 750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6" name="Rectangle 750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7" name="Groupe 742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455" name="Rectangle 745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6" name="Rectangle 745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7" name="Rectangle 745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8" name="Rectangle 745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9" name="Rectangle 745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0" name="Rectangle 745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1" name="Rectangle 746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2" name="Rectangle 746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3" name="Rectangle 746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4" name="Rectangle 746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5" name="Rectangle 746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6" name="Rectangle 746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7" name="Rectangle 746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8" name="Rectangle 746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9" name="Rectangle 746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0" name="Rectangle 746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1" name="Rectangle 747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2" name="Rectangle 747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3" name="Rectangle 747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4" name="Rectangle 747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5" name="Rectangle 747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6" name="Rectangle 747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7" name="Rectangle 747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8" name="Rectangle 747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9" name="Rectangle 747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0" name="Rectangle 747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8" name="Groupe 742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429" name="Rectangle 742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0" name="Rectangle 742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1" name="Rectangle 743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2" name="Rectangle 743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3" name="Rectangle 743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4" name="Rectangle 743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5" name="Rectangle 743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6" name="Rectangle 743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7" name="Rectangle 743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8" name="Rectangle 743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9" name="Rectangle 743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0" name="Rectangle 743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1" name="Rectangle 744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2" name="Rectangle 744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3" name="Rectangle 744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4" name="Rectangle 744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5" name="Rectangle 744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6" name="Rectangle 744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7" name="Rectangle 744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8" name="Rectangle 744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9" name="Rectangle 744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0" name="Rectangle 744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1" name="Rectangle 745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2" name="Rectangle 745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3" name="Rectangle 745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4" name="Rectangle 745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741" name="Groupe 7740"/>
          <p:cNvGrpSpPr/>
          <p:nvPr userDrawn="1"/>
        </p:nvGrpSpPr>
        <p:grpSpPr>
          <a:xfrm>
            <a:off x="778021" y="3877747"/>
            <a:ext cx="10793490" cy="900000"/>
            <a:chOff x="577340" y="118070"/>
            <a:chExt cx="10793490" cy="979831"/>
          </a:xfrm>
        </p:grpSpPr>
        <p:grpSp>
          <p:nvGrpSpPr>
            <p:cNvPr id="7742" name="Groupe 774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040" name="Rectangle 803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1" name="Rectangle 804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2" name="Rectangle 804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3" name="Rectangle 804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4" name="Rectangle 804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5" name="Rectangle 804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6" name="Rectangle 804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7" name="Rectangle 804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8" name="Rectangle 804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9" name="Rectangle 804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0" name="Rectangle 804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1" name="Rectangle 805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2" name="Rectangle 805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3" name="Rectangle 805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4" name="Rectangle 805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5" name="Rectangle 805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6" name="Rectangle 805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7" name="Rectangle 805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8" name="Rectangle 805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9" name="Rectangle 805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0" name="Rectangle 805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1" name="Rectangle 806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2" name="Rectangle 806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3" name="Rectangle 806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4" name="Rectangle 806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5" name="Rectangle 806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3" name="Groupe 774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014" name="Rectangle 801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5" name="Rectangle 801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6" name="Rectangle 801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7" name="Rectangle 801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8" name="Rectangle 801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9" name="Rectangle 801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0" name="Rectangle 801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1" name="Rectangle 802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2" name="Rectangle 802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3" name="Rectangle 802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4" name="Rectangle 802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5" name="Rectangle 802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6" name="Rectangle 802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7" name="Rectangle 802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8" name="Rectangle 802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9" name="Rectangle 802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0" name="Rectangle 802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1" name="Rectangle 803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2" name="Rectangle 803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3" name="Rectangle 803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4" name="Rectangle 803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5" name="Rectangle 803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6" name="Rectangle 803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7" name="Rectangle 803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8" name="Rectangle 803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9" name="Rectangle 803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4" name="Groupe 774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988" name="Rectangle 79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9" name="Rectangle 79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0" name="Rectangle 79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1" name="Rectangle 79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2" name="Rectangle 79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3" name="Rectangle 79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4" name="Rectangle 79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5" name="Rectangle 79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6" name="Rectangle 79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7" name="Rectangle 79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8" name="Rectangle 79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9" name="Rectangle 79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0" name="Rectangle 79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1" name="Rectangle 80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2" name="Rectangle 80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3" name="Rectangle 80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4" name="Rectangle 80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5" name="Rectangle 80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6" name="Rectangle 80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7" name="Rectangle 80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8" name="Rectangle 80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9" name="Rectangle 80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0" name="Rectangle 80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1" name="Rectangle 80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2" name="Rectangle 80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3" name="Rectangle 80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5" name="Groupe 774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962" name="Rectangle 79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3" name="Rectangle 79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4" name="Rectangle 79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5" name="Rectangle 79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6" name="Rectangle 79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7" name="Rectangle 79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8" name="Rectangle 79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9" name="Rectangle 79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0" name="Rectangle 79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1" name="Rectangle 79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2" name="Rectangle 79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3" name="Rectangle 79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4" name="Rectangle 79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5" name="Rectangle 79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6" name="Rectangle 79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7" name="Rectangle 79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8" name="Rectangle 79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9" name="Rectangle 79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0" name="Rectangle 79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1" name="Rectangle 79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2" name="Rectangle 79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3" name="Rectangle 79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4" name="Rectangle 79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5" name="Rectangle 79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6" name="Rectangle 79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7" name="Rectangle 798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6" name="Groupe 774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936" name="Rectangle 793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7" name="Rectangle 793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8" name="Rectangle 793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9" name="Rectangle 793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0" name="Rectangle 793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1" name="Rectangle 794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2" name="Rectangle 794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3" name="Rectangle 794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4" name="Rectangle 794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5" name="Rectangle 794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6" name="Rectangle 794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7" name="Rectangle 794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8" name="Rectangle 794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9" name="Rectangle 794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0" name="Rectangle 794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1" name="Rectangle 795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2" name="Rectangle 795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3" name="Rectangle 795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4" name="Rectangle 795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5" name="Rectangle 795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6" name="Rectangle 795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7" name="Rectangle 795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8" name="Rectangle 795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9" name="Rectangle 795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0" name="Rectangle 795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1" name="Rectangle 79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7" name="Groupe 774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910" name="Rectangle 790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1" name="Rectangle 791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2" name="Rectangle 79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3" name="Rectangle 79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4" name="Rectangle 79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5" name="Rectangle 79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6" name="Rectangle 79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7" name="Rectangle 79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8" name="Rectangle 79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9" name="Rectangle 79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0" name="Rectangle 79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1" name="Rectangle 79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2" name="Rectangle 79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3" name="Rectangle 79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4" name="Rectangle 79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5" name="Rectangle 79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6" name="Rectangle 79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7" name="Rectangle 79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8" name="Rectangle 79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9" name="Rectangle 79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0" name="Rectangle 79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1" name="Rectangle 79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2" name="Rectangle 79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3" name="Rectangle 79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4" name="Rectangle 79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5" name="Rectangle 79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8" name="Groupe 774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884" name="Rectangle 788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5" name="Rectangle 788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6" name="Rectangle 788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7" name="Rectangle 788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8" name="Rectangle 788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9" name="Rectangle 788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0" name="Rectangle 788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1" name="Rectangle 789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2" name="Rectangle 789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3" name="Rectangle 789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4" name="Rectangle 789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5" name="Rectangle 789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6" name="Rectangle 789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7" name="Rectangle 789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8" name="Rectangle 789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9" name="Rectangle 789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0" name="Rectangle 789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1" name="Rectangle 790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2" name="Rectangle 790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3" name="Rectangle 790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4" name="Rectangle 790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5" name="Rectangle 790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6" name="Rectangle 790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7" name="Rectangle 790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8" name="Rectangle 790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9" name="Rectangle 790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9" name="Groupe 774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858" name="Rectangle 785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9" name="Rectangle 785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0" name="Rectangle 785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1" name="Rectangle 786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2" name="Rectangle 786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3" name="Rectangle 786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4" name="Rectangle 786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5" name="Rectangle 786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6" name="Rectangle 786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7" name="Rectangle 786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8" name="Rectangle 786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9" name="Rectangle 786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0" name="Rectangle 786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1" name="Rectangle 787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2" name="Rectangle 787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3" name="Rectangle 787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4" name="Rectangle 787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5" name="Rectangle 787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6" name="Rectangle 787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7" name="Rectangle 787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8" name="Rectangle 787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9" name="Rectangle 787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0" name="Rectangle 787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1" name="Rectangle 788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2" name="Rectangle 788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3" name="Rectangle 788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0" name="Groupe 774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832" name="Rectangle 783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3" name="Rectangle 783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4" name="Rectangle 783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5" name="Rectangle 783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6" name="Rectangle 783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7" name="Rectangle 783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8" name="Rectangle 783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9" name="Rectangle 783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0" name="Rectangle 783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1" name="Rectangle 784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2" name="Rectangle 784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3" name="Rectangle 784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4" name="Rectangle 784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5" name="Rectangle 784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6" name="Rectangle 784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7" name="Rectangle 784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8" name="Rectangle 784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9" name="Rectangle 784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0" name="Rectangle 784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1" name="Rectangle 785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2" name="Rectangle 785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3" name="Rectangle 785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4" name="Rectangle 785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5" name="Rectangle 785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6" name="Rectangle 785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7" name="Rectangle 785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1" name="Groupe 775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806" name="Rectangle 780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7" name="Rectangle 780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8" name="Rectangle 780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9" name="Rectangle 780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0" name="Rectangle 780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1" name="Rectangle 781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2" name="Rectangle 781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3" name="Rectangle 781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4" name="Rectangle 781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5" name="Rectangle 781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6" name="Rectangle 781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7" name="Rectangle 781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8" name="Rectangle 781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9" name="Rectangle 781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0" name="Rectangle 781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1" name="Rectangle 782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2" name="Rectangle 782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3" name="Rectangle 782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4" name="Rectangle 782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5" name="Rectangle 782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6" name="Rectangle 782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7" name="Rectangle 782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8" name="Rectangle 782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9" name="Rectangle 782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0" name="Rectangle 782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1" name="Rectangle 783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2" name="Groupe 775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780" name="Rectangle 77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1" name="Rectangle 77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2" name="Rectangle 77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3" name="Rectangle 77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4" name="Rectangle 77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5" name="Rectangle 77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6" name="Rectangle 77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7" name="Rectangle 77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8" name="Rectangle 77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9" name="Rectangle 77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0" name="Rectangle 77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1" name="Rectangle 77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2" name="Rectangle 77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3" name="Rectangle 77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4" name="Rectangle 77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5" name="Rectangle 77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6" name="Rectangle 77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7" name="Rectangle 77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8" name="Rectangle 77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9" name="Rectangle 77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0" name="Rectangle 77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1" name="Rectangle 78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2" name="Rectangle 78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3" name="Rectangle 78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4" name="Rectangle 78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5" name="Rectangle 78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3" name="Groupe 775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754" name="Rectangle 775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5" name="Rectangle 775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6" name="Rectangle 775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7" name="Rectangle 775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8" name="Rectangle 775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9" name="Rectangle 775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0" name="Rectangle 775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1" name="Rectangle 776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2" name="Rectangle 776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3" name="Rectangle 776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4" name="Rectangle 776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5" name="Rectangle 776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6" name="Rectangle 776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7" name="Rectangle 776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8" name="Rectangle 776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9" name="Rectangle 776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0" name="Rectangle 776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1" name="Rectangle 777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2" name="Rectangle 777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3" name="Rectangle 777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4" name="Rectangle 777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5" name="Rectangle 777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6" name="Rectangle 777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7" name="Rectangle 777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8" name="Rectangle 777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9" name="Rectangle 777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066" name="Groupe 8065"/>
          <p:cNvGrpSpPr/>
          <p:nvPr userDrawn="1"/>
        </p:nvGrpSpPr>
        <p:grpSpPr>
          <a:xfrm>
            <a:off x="778021" y="4777746"/>
            <a:ext cx="10793490" cy="900000"/>
            <a:chOff x="577340" y="118070"/>
            <a:chExt cx="10793490" cy="979831"/>
          </a:xfrm>
        </p:grpSpPr>
        <p:grpSp>
          <p:nvGrpSpPr>
            <p:cNvPr id="8067" name="Groupe 806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365" name="Rectangle 836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6" name="Rectangle 836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7" name="Rectangle 836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8" name="Rectangle 836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9" name="Rectangle 836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0" name="Rectangle 836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1" name="Rectangle 837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2" name="Rectangle 837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3" name="Rectangle 837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4" name="Rectangle 837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5" name="Rectangle 837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6" name="Rectangle 837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7" name="Rectangle 837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8" name="Rectangle 837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9" name="Rectangle 837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0" name="Rectangle 837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1" name="Rectangle 838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2" name="Rectangle 838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3" name="Rectangle 838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4" name="Rectangle 838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5" name="Rectangle 838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6" name="Rectangle 838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7" name="Rectangle 838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8" name="Rectangle 838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9" name="Rectangle 838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90" name="Rectangle 838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8" name="Groupe 806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339" name="Rectangle 833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0" name="Rectangle 833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1" name="Rectangle 834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2" name="Rectangle 834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3" name="Rectangle 834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4" name="Rectangle 834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5" name="Rectangle 834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6" name="Rectangle 834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7" name="Rectangle 834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8" name="Rectangle 834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9" name="Rectangle 834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0" name="Rectangle 834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1" name="Rectangle 835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2" name="Rectangle 835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3" name="Rectangle 835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4" name="Rectangle 835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5" name="Rectangle 835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6" name="Rectangle 835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7" name="Rectangle 835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8" name="Rectangle 835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9" name="Rectangle 835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0" name="Rectangle 835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1" name="Rectangle 836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2" name="Rectangle 836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3" name="Rectangle 836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4" name="Rectangle 836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9" name="Groupe 806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313" name="Rectangle 83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4" name="Rectangle 83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5" name="Rectangle 83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6" name="Rectangle 83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7" name="Rectangle 83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8" name="Rectangle 83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9" name="Rectangle 83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0" name="Rectangle 83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1" name="Rectangle 83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2" name="Rectangle 83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3" name="Rectangle 83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4" name="Rectangle 83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5" name="Rectangle 83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6" name="Rectangle 83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7" name="Rectangle 83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8" name="Rectangle 83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9" name="Rectangle 83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0" name="Rectangle 83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1" name="Rectangle 83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2" name="Rectangle 83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3" name="Rectangle 83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4" name="Rectangle 83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5" name="Rectangle 83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6" name="Rectangle 83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7" name="Rectangle 83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8" name="Rectangle 83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0" name="Groupe 806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287" name="Rectangle 82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8" name="Rectangle 82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9" name="Rectangle 82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0" name="Rectangle 82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1" name="Rectangle 82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2" name="Rectangle 82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3" name="Rectangle 82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4" name="Rectangle 82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5" name="Rectangle 82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6" name="Rectangle 82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7" name="Rectangle 82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8" name="Rectangle 82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9" name="Rectangle 82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0" name="Rectangle 82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1" name="Rectangle 83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2" name="Rectangle 83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3" name="Rectangle 83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4" name="Rectangle 83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5" name="Rectangle 83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6" name="Rectangle 83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7" name="Rectangle 83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8" name="Rectangle 83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9" name="Rectangle 83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0" name="Rectangle 83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1" name="Rectangle 83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2" name="Rectangle 83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1" name="Groupe 807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261" name="Rectangle 82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2" name="Rectangle 82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3" name="Rectangle 82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4" name="Rectangle 82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5" name="Rectangle 82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6" name="Rectangle 82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7" name="Rectangle 82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8" name="Rectangle 82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9" name="Rectangle 82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0" name="Rectangle 82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1" name="Rectangle 82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2" name="Rectangle 82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3" name="Rectangle 82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4" name="Rectangle 82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5" name="Rectangle 82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6" name="Rectangle 82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7" name="Rectangle 82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8" name="Rectangle 82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9" name="Rectangle 82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0" name="Rectangle 82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1" name="Rectangle 82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2" name="Rectangle 82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3" name="Rectangle 82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4" name="Rectangle 82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5" name="Rectangle 82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6" name="Rectangle 82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2" name="Groupe 807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235" name="Rectangle 82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6" name="Rectangle 82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7" name="Rectangle 82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8" name="Rectangle 82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9" name="Rectangle 82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0" name="Rectangle 82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1" name="Rectangle 82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2" name="Rectangle 82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3" name="Rectangle 82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4" name="Rectangle 82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5" name="Rectangle 82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6" name="Rectangle 82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7" name="Rectangle 82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8" name="Rectangle 82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9" name="Rectangle 82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0" name="Rectangle 82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1" name="Rectangle 82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2" name="Rectangle 82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3" name="Rectangle 82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4" name="Rectangle 82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5" name="Rectangle 82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6" name="Rectangle 82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7" name="Rectangle 82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8" name="Rectangle 82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9" name="Rectangle 82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0" name="Rectangle 82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3" name="Groupe 807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209" name="Rectangle 82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0" name="Rectangle 82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1" name="Rectangle 82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2" name="Rectangle 82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3" name="Rectangle 82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4" name="Rectangle 82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5" name="Rectangle 82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6" name="Rectangle 82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7" name="Rectangle 82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8" name="Rectangle 82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9" name="Rectangle 82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0" name="Rectangle 82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1" name="Rectangle 82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2" name="Rectangle 82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3" name="Rectangle 82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4" name="Rectangle 82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5" name="Rectangle 82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6" name="Rectangle 82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7" name="Rectangle 82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8" name="Rectangle 82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9" name="Rectangle 82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0" name="Rectangle 82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1" name="Rectangle 82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2" name="Rectangle 82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3" name="Rectangle 82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4" name="Rectangle 82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4" name="Groupe 807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183" name="Rectangle 81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4" name="Rectangle 81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5" name="Rectangle 81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6" name="Rectangle 81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7" name="Rectangle 81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8" name="Rectangle 81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9" name="Rectangle 81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0" name="Rectangle 81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1" name="Rectangle 81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2" name="Rectangle 81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3" name="Rectangle 81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4" name="Rectangle 81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5" name="Rectangle 81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6" name="Rectangle 81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7" name="Rectangle 81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8" name="Rectangle 81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9" name="Rectangle 81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0" name="Rectangle 81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1" name="Rectangle 82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2" name="Rectangle 82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3" name="Rectangle 82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4" name="Rectangle 82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5" name="Rectangle 82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6" name="Rectangle 82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7" name="Rectangle 82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8" name="Rectangle 82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5" name="Groupe 807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157" name="Rectangle 81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8" name="Rectangle 81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9" name="Rectangle 81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0" name="Rectangle 81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1" name="Rectangle 81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2" name="Rectangle 81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3" name="Rectangle 81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4" name="Rectangle 81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5" name="Rectangle 81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6" name="Rectangle 81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7" name="Rectangle 81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8" name="Rectangle 81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9" name="Rectangle 81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0" name="Rectangle 81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1" name="Rectangle 81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2" name="Rectangle 81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3" name="Rectangle 81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4" name="Rectangle 81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5" name="Rectangle 81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6" name="Rectangle 81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7" name="Rectangle 81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8" name="Rectangle 81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9" name="Rectangle 81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0" name="Rectangle 81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1" name="Rectangle 81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2" name="Rectangle 81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6" name="Groupe 807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131" name="Rectangle 81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2" name="Rectangle 81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3" name="Rectangle 81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4" name="Rectangle 81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5" name="Rectangle 81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6" name="Rectangle 81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7" name="Rectangle 81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8" name="Rectangle 81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9" name="Rectangle 81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0" name="Rectangle 81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1" name="Rectangle 81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2" name="Rectangle 81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3" name="Rectangle 81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4" name="Rectangle 81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5" name="Rectangle 81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6" name="Rectangle 81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7" name="Rectangle 81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8" name="Rectangle 81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9" name="Rectangle 81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0" name="Rectangle 81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1" name="Rectangle 81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2" name="Rectangle 81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3" name="Rectangle 81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4" name="Rectangle 81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5" name="Rectangle 81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6" name="Rectangle 81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7" name="Groupe 807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105" name="Rectangle 81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6" name="Rectangle 81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7" name="Rectangle 81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8" name="Rectangle 81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9" name="Rectangle 81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0" name="Rectangle 81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1" name="Rectangle 81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2" name="Rectangle 81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3" name="Rectangle 81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4" name="Rectangle 81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5" name="Rectangle 81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6" name="Rectangle 81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7" name="Rectangle 81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8" name="Rectangle 81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9" name="Rectangle 81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0" name="Rectangle 81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1" name="Rectangle 81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2" name="Rectangle 81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3" name="Rectangle 81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4" name="Rectangle 81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5" name="Rectangle 81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6" name="Rectangle 81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7" name="Rectangle 81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8" name="Rectangle 81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9" name="Rectangle 81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0" name="Rectangle 81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8" name="Groupe 807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079" name="Rectangle 80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0" name="Rectangle 80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1" name="Rectangle 80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2" name="Rectangle 80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3" name="Rectangle 80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4" name="Rectangle 80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5" name="Rectangle 80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6" name="Rectangle 80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7" name="Rectangle 80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8" name="Rectangle 80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9" name="Rectangle 80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0" name="Rectangle 80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1" name="Rectangle 80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2" name="Rectangle 80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3" name="Rectangle 80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4" name="Rectangle 80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5" name="Rectangle 80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6" name="Rectangle 80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7" name="Rectangle 80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8" name="Rectangle 80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9" name="Rectangle 80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0" name="Rectangle 80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1" name="Rectangle 81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2" name="Rectangle 81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3" name="Rectangle 81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4" name="Rectangle 81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391" name="Groupe 8390"/>
          <p:cNvGrpSpPr/>
          <p:nvPr userDrawn="1"/>
        </p:nvGrpSpPr>
        <p:grpSpPr>
          <a:xfrm>
            <a:off x="778021" y="5671551"/>
            <a:ext cx="10793490" cy="900000"/>
            <a:chOff x="577340" y="118070"/>
            <a:chExt cx="10793490" cy="979831"/>
          </a:xfrm>
        </p:grpSpPr>
        <p:grpSp>
          <p:nvGrpSpPr>
            <p:cNvPr id="8392" name="Groupe 83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690" name="Rectangle 86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1" name="Rectangle 86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2" name="Rectangle 86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3" name="Rectangle 86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4" name="Rectangle 86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5" name="Rectangle 86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6" name="Rectangle 86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7" name="Rectangle 86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8" name="Rectangle 86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9" name="Rectangle 86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0" name="Rectangle 86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1" name="Rectangle 87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2" name="Rectangle 87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3" name="Rectangle 87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4" name="Rectangle 87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5" name="Rectangle 87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6" name="Rectangle 87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7" name="Rectangle 87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8" name="Rectangle 87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9" name="Rectangle 87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0" name="Rectangle 87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1" name="Rectangle 87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2" name="Rectangle 87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3" name="Rectangle 87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4" name="Rectangle 87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5" name="Rectangle 87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3" name="Groupe 83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664" name="Rectangle 86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5" name="Rectangle 86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6" name="Rectangle 86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7" name="Rectangle 86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8" name="Rectangle 86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9" name="Rectangle 86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0" name="Rectangle 86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1" name="Rectangle 86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2" name="Rectangle 86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3" name="Rectangle 86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4" name="Rectangle 86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5" name="Rectangle 86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6" name="Rectangle 86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7" name="Rectangle 86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8" name="Rectangle 86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9" name="Rectangle 86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0" name="Rectangle 86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1" name="Rectangle 86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2" name="Rectangle 86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3" name="Rectangle 86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4" name="Rectangle 86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5" name="Rectangle 86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6" name="Rectangle 86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7" name="Rectangle 86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8" name="Rectangle 86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9" name="Rectangle 86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4" name="Groupe 83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638" name="Rectangle 86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9" name="Rectangle 86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0" name="Rectangle 86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1" name="Rectangle 86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2" name="Rectangle 86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3" name="Rectangle 86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4" name="Rectangle 86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5" name="Rectangle 86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6" name="Rectangle 86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7" name="Rectangle 86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8" name="Rectangle 86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9" name="Rectangle 86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0" name="Rectangle 86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1" name="Rectangle 86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2" name="Rectangle 86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3" name="Rectangle 86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4" name="Rectangle 86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5" name="Rectangle 86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6" name="Rectangle 86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7" name="Rectangle 86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8" name="Rectangle 86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9" name="Rectangle 86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0" name="Rectangle 86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1" name="Rectangle 86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2" name="Rectangle 86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3" name="Rectangle 86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5" name="Groupe 83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612" name="Rectangle 86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3" name="Rectangle 86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4" name="Rectangle 86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5" name="Rectangle 86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6" name="Rectangle 86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7" name="Rectangle 86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8" name="Rectangle 86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9" name="Rectangle 86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0" name="Rectangle 86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1" name="Rectangle 86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2" name="Rectangle 86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3" name="Rectangle 86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4" name="Rectangle 86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5" name="Rectangle 86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6" name="Rectangle 86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7" name="Rectangle 86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8" name="Rectangle 86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9" name="Rectangle 86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0" name="Rectangle 86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1" name="Rectangle 86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2" name="Rectangle 86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3" name="Rectangle 86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4" name="Rectangle 86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5" name="Rectangle 86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6" name="Rectangle 86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7" name="Rectangle 86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6" name="Groupe 83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586" name="Rectangle 85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7" name="Rectangle 85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8" name="Rectangle 85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9" name="Rectangle 85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0" name="Rectangle 85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1" name="Rectangle 85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2" name="Rectangle 85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3" name="Rectangle 85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4" name="Rectangle 85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5" name="Rectangle 85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6" name="Rectangle 85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7" name="Rectangle 85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8" name="Rectangle 85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9" name="Rectangle 85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0" name="Rectangle 85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1" name="Rectangle 86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2" name="Rectangle 86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3" name="Rectangle 86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4" name="Rectangle 86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5" name="Rectangle 86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6" name="Rectangle 86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7" name="Rectangle 86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8" name="Rectangle 86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9" name="Rectangle 86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0" name="Rectangle 86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1" name="Rectangle 86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7" name="Groupe 83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560" name="Rectangle 85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1" name="Rectangle 85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2" name="Rectangle 85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3" name="Rectangle 85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4" name="Rectangle 85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5" name="Rectangle 85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6" name="Rectangle 85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7" name="Rectangle 85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8" name="Rectangle 85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9" name="Rectangle 85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0" name="Rectangle 85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1" name="Rectangle 85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2" name="Rectangle 85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3" name="Rectangle 85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4" name="Rectangle 85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5" name="Rectangle 85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6" name="Rectangle 85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7" name="Rectangle 85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8" name="Rectangle 85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9" name="Rectangle 85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0" name="Rectangle 85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1" name="Rectangle 85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2" name="Rectangle 85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3" name="Rectangle 85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4" name="Rectangle 85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5" name="Rectangle 85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8" name="Groupe 83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534" name="Rectangle 85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5" name="Rectangle 85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6" name="Rectangle 85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7" name="Rectangle 85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8" name="Rectangle 85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9" name="Rectangle 85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0" name="Rectangle 85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1" name="Rectangle 85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2" name="Rectangle 85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3" name="Rectangle 85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4" name="Rectangle 85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5" name="Rectangle 85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6" name="Rectangle 85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7" name="Rectangle 85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8" name="Rectangle 85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9" name="Rectangle 85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0" name="Rectangle 85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1" name="Rectangle 85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2" name="Rectangle 85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3" name="Rectangle 85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4" name="Rectangle 85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5" name="Rectangle 85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6" name="Rectangle 85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7" name="Rectangle 85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8" name="Rectangle 85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9" name="Rectangle 85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9" name="Groupe 83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508" name="Rectangle 85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9" name="Rectangle 85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0" name="Rectangle 85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1" name="Rectangle 85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2" name="Rectangle 85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3" name="Rectangle 85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4" name="Rectangle 85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5" name="Rectangle 85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6" name="Rectangle 85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7" name="Rectangle 85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8" name="Rectangle 85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9" name="Rectangle 85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0" name="Rectangle 85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1" name="Rectangle 85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2" name="Rectangle 85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3" name="Rectangle 85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4" name="Rectangle 85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5" name="Rectangle 85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6" name="Rectangle 85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7" name="Rectangle 85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8" name="Rectangle 85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9" name="Rectangle 85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0" name="Rectangle 85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1" name="Rectangle 85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2" name="Rectangle 85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3" name="Rectangle 85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0" name="Groupe 83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482" name="Rectangle 84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3" name="Rectangle 84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4" name="Rectangle 84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5" name="Rectangle 84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6" name="Rectangle 84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7" name="Rectangle 84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8" name="Rectangle 84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9" name="Rectangle 84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0" name="Rectangle 84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1" name="Rectangle 84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2" name="Rectangle 84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3" name="Rectangle 84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4" name="Rectangle 84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5" name="Rectangle 84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6" name="Rectangle 84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7" name="Rectangle 84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8" name="Rectangle 84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9" name="Rectangle 84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0" name="Rectangle 84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1" name="Rectangle 85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2" name="Rectangle 85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3" name="Rectangle 85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4" name="Rectangle 85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5" name="Rectangle 85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6" name="Rectangle 85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7" name="Rectangle 85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1" name="Groupe 84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456" name="Rectangle 84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7" name="Rectangle 84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8" name="Rectangle 84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9" name="Rectangle 84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0" name="Rectangle 84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1" name="Rectangle 84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2" name="Rectangle 84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3" name="Rectangle 84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4" name="Rectangle 84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5" name="Rectangle 84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6" name="Rectangle 84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7" name="Rectangle 84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8" name="Rectangle 84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9" name="Rectangle 84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0" name="Rectangle 84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1" name="Rectangle 84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2" name="Rectangle 84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3" name="Rectangle 84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4" name="Rectangle 84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5" name="Rectangle 84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6" name="Rectangle 84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7" name="Rectangle 84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8" name="Rectangle 84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9" name="Rectangle 84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0" name="Rectangle 84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1" name="Rectangle 84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2" name="Groupe 84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430" name="Rectangle 84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1" name="Rectangle 84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2" name="Rectangle 84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3" name="Rectangle 84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4" name="Rectangle 84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5" name="Rectangle 84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6" name="Rectangle 84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7" name="Rectangle 84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8" name="Rectangle 84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9" name="Rectangle 84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0" name="Rectangle 84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1" name="Rectangle 84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2" name="Rectangle 84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3" name="Rectangle 84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4" name="Rectangle 84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5" name="Rectangle 84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6" name="Rectangle 84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7" name="Rectangle 84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8" name="Rectangle 84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9" name="Rectangle 84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0" name="Rectangle 84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1" name="Rectangle 84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2" name="Rectangle 84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3" name="Rectangle 84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4" name="Rectangle 84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5" name="Rectangle 84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3" name="Groupe 84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404" name="Rectangle 84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5" name="Rectangle 84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6" name="Rectangle 84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7" name="Rectangle 84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8" name="Rectangle 84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9" name="Rectangle 84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0" name="Rectangle 84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1" name="Rectangle 84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2" name="Rectangle 84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3" name="Rectangle 84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4" name="Rectangle 84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5" name="Rectangle 84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6" name="Rectangle 84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7" name="Rectangle 84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8" name="Rectangle 84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9" name="Rectangle 84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0" name="Rectangle 84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1" name="Rectangle 84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2" name="Rectangle 84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3" name="Rectangle 84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4" name="Rectangle 84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5" name="Rectangle 84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6" name="Rectangle 84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7" name="Rectangle 84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8" name="Rectangle 84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9" name="Rectangle 84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sp>
        <p:nvSpPr>
          <p:cNvPr id="7" name="Rectangle 6"/>
          <p:cNvSpPr/>
          <p:nvPr userDrawn="1"/>
        </p:nvSpPr>
        <p:spPr>
          <a:xfrm>
            <a:off x="7970520" y="5146766"/>
            <a:ext cx="3594463" cy="1421673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716" name="Rectangle 8715"/>
          <p:cNvSpPr/>
          <p:nvPr userDrawn="1"/>
        </p:nvSpPr>
        <p:spPr>
          <a:xfrm>
            <a:off x="782320" y="294640"/>
            <a:ext cx="10782663" cy="6273799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7455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E693-BCF4-48D7-A2B0-56FD0A71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6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4D9E-B983-4CE3-936E-209BE046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6F4C-A6EA-4F24-9E4F-B6ABCA76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25158-B9AF-49CA-9DE0-F889047A6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5310-27A2-465A-AF54-1214D1C6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176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B80387-6204-02CB-8272-82F311815CFE}"/>
              </a:ext>
            </a:extLst>
          </p:cNvPr>
          <p:cNvSpPr/>
          <p:nvPr userDrawn="1"/>
        </p:nvSpPr>
        <p:spPr>
          <a:xfrm>
            <a:off x="0" y="-27432"/>
            <a:ext cx="5006898" cy="6721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F47A5-8138-4329-B170-D7C28B3F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352" y="433486"/>
            <a:ext cx="605139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4BF7F-BB80-4F7B-A52D-68EA93A70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2351" y="3429000"/>
            <a:ext cx="6051393" cy="255001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8446B-E14D-42AC-AAF0-7B9558AB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9950-B733-4ACC-8A2E-7B3D9C3E1375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CDE79-9FE1-436F-A021-6A1EA843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3E64-3475-428D-8926-CDDF8C36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417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F646-A9FB-4A93-8A9B-46DFBD97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4751-BA14-45E8-BCED-91E7AF87E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258A8-CC33-437B-8DCF-27B419AFA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46D14-D529-4E54-9E51-16AE703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6B62-8D56-4B60-80AA-0809324CF4C8}" type="datetime1">
              <a:rPr lang="fr-CH" smtClean="0"/>
              <a:t>16.01.2026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4E879-7EF1-4667-B24D-6D591C30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0638-B95A-4907-9548-42F7288C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352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A655-9569-4DC1-90B1-EA5F4DFF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99532-B16E-4262-93AB-DA9591C5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0E7BC-1050-43D6-AD7F-9DA4614A3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90C07-1B6F-47EA-B185-9B87385C6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E861E-D731-44D6-99C1-0C29D4D8D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0E5516-B71D-4777-BD7E-34367A193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E4A1-8973-4E31-912A-AE7B9002F71C}" type="datetime1">
              <a:rPr lang="fr-CH" smtClean="0"/>
              <a:t>16.01.2026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42FC4-7CCA-4987-B401-0D3E9EFB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DA39A-2D00-49C3-9E0D-81ADACA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088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6FFE-96D9-4B34-AEC1-E6E432A5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8A47B-348E-4902-A87A-5EAEB9AE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360E-15A7-4124-8C47-0E1CAA663EE5}" type="datetime1">
              <a:rPr lang="fr-CH" smtClean="0"/>
              <a:t>16.01.2026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8803C-BEDB-4D78-950D-026F72A3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95347-B981-4BE4-8FD5-E37C83D9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1725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B548C2-6056-48FA-CA0F-1E89E3CC61AB}"/>
              </a:ext>
            </a:extLst>
          </p:cNvPr>
          <p:cNvSpPr/>
          <p:nvPr userDrawn="1"/>
        </p:nvSpPr>
        <p:spPr>
          <a:xfrm>
            <a:off x="1985847" y="769434"/>
            <a:ext cx="8220307" cy="5263376"/>
          </a:xfrm>
          <a:prstGeom prst="rect">
            <a:avLst/>
          </a:prstGeom>
          <a:solidFill>
            <a:srgbClr val="B567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7751" y="0"/>
            <a:ext cx="2743200" cy="365125"/>
          </a:xfrm>
        </p:spPr>
        <p:txBody>
          <a:bodyPr/>
          <a:lstStyle/>
          <a:p>
            <a:fld id="{56521061-0D93-4B81-83F1-CB9B8348BCE1}" type="datetime1">
              <a:rPr lang="fr-CH" smtClean="0"/>
              <a:t>16.01.2026</a:t>
            </a:fld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8BDA6-52D9-C1EB-6227-61C9369D9049}"/>
              </a:ext>
            </a:extLst>
          </p:cNvPr>
          <p:cNvSpPr/>
          <p:nvPr userDrawn="1"/>
        </p:nvSpPr>
        <p:spPr>
          <a:xfrm>
            <a:off x="1546303" y="1067649"/>
            <a:ext cx="9099395" cy="1115122"/>
          </a:xfrm>
          <a:prstGeom prst="rect">
            <a:avLst/>
          </a:prstGeom>
          <a:solidFill>
            <a:srgbClr val="D3BC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CH" sz="5600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aytona Light" panose="020B0604020202020204" pitchFamily="34" charset="0"/>
                <a:cs typeface="Helvetica" panose="020B0604020202020204" pitchFamily="34" charset="0"/>
              </a:rPr>
              <a:t>LE PROBLÈME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21C8FD-113E-8BFB-A142-B44E3B292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29138" y="2297150"/>
            <a:ext cx="8196788" cy="3409563"/>
          </a:xfr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C1E8FF-F703-137A-1F3B-552D8AD97F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6356350"/>
            <a:ext cx="4441825" cy="365125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230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C1A-D182-42A9-B8B5-3B898D32CB50}" type="datetime1">
              <a:rPr lang="fr-CH" smtClean="0"/>
              <a:t>16.01.2026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1DFA6-2D7D-48AB-895A-E117810E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257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EF89-D126-4FE9-A85E-FC417B63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461E-3D4A-4F92-997C-9E6D7D88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1EF0B-176D-4351-A2A2-7CB8BACC1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9F0C0-4F88-4D64-93D1-95E1C15F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C7AB-CC60-49A6-B32D-7EF99A202370}" type="datetime1">
              <a:rPr lang="fr-CH" smtClean="0"/>
              <a:t>16.01.2026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75FB2-C8B7-48DC-BFAA-0D39A3DE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D880-A5FE-415B-8EA9-FD08E178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1517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9679-CF50-46BE-8BDB-C7E61C30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55319-8DC7-45B1-900D-E649D1B00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3FDFC-1E7F-4BE6-BCAF-A729CD625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519E-41CD-4F53-9DD3-A6AC86BB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B6F17-CB18-4F9A-8BBB-A8E031E4D57C}" type="datetime1">
              <a:rPr lang="fr-CH" smtClean="0"/>
              <a:t>16.01.2026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66A08-2B1A-43DF-ADB1-1DF388F1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59EA7-AD92-4B24-88FA-6D02A7DE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4564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ABC7-1652-4289-8CE3-657D09F8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5BAA7-152F-420A-9931-8814A3938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94CC-EF76-402A-AF0B-12E65284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30C0C-7588-4082-B618-69188074804F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9E598-A738-40DC-9C3D-74413241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8E74F-AF89-4196-BA57-A56C3FBA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1446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77B9C-2A56-40C4-B057-6B40CD9E2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C535A-CD0B-49C4-AB77-3104BF76B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1BACA-1163-4819-987F-037DDC49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6012-C93A-4CA8-B3EA-E261566241B5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EBA2-F6BE-4147-A731-8805FB37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3B0E-5F75-49E1-A6FD-DDE0093C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2430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5F7FA">
                <a:alpha val="89804"/>
              </a:srgbClr>
            </a:gs>
            <a:gs pos="100000">
              <a:srgbClr val="F5F7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09ED7-AE38-4460-A0D6-A9B7118A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219C7-FBDA-4B2A-B02F-17797A3D9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55C9-6EAC-4EDB-A742-619ED6F9E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356E8D19-C006-4054-B5E5-6DC5889B944F}" type="datetime1">
              <a:rPr lang="fr-CH" smtClean="0"/>
              <a:pPr/>
              <a:t>16.01.2026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EB6B0-18DC-4318-94C8-083DCC617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7902-F4A4-4E29-84B2-EE8B4E9C2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1052F75B-C0EB-567D-73FC-C1B262D76770}"/>
              </a:ext>
            </a:extLst>
          </p:cNvPr>
          <p:cNvSpPr/>
          <p:nvPr userDrawn="1"/>
        </p:nvSpPr>
        <p:spPr>
          <a:xfrm>
            <a:off x="0" y="6702552"/>
            <a:ext cx="12192000" cy="292608"/>
          </a:xfrm>
          <a:prstGeom prst="rect">
            <a:avLst/>
          </a:prstGeom>
          <a:solidFill>
            <a:schemeClr val="tx1">
              <a:alpha val="3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3F0A1181-D7E7-B3DC-C56C-188A43C4CD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580786" y="2902192"/>
            <a:ext cx="1903346" cy="459519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56A3F54-2B1D-63AD-E103-C28D42FEFD09}"/>
              </a:ext>
            </a:extLst>
          </p:cNvPr>
          <p:cNvCxnSpPr>
            <a:cxnSpLocks/>
          </p:cNvCxnSpPr>
          <p:nvPr userDrawn="1"/>
        </p:nvCxnSpPr>
        <p:spPr>
          <a:xfrm flipH="1">
            <a:off x="713361" y="365125"/>
            <a:ext cx="5195" cy="6249989"/>
          </a:xfrm>
          <a:prstGeom prst="line">
            <a:avLst/>
          </a:prstGeom>
          <a:ln w="19050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2428D2-BBF5-61C6-C54D-89D900B9B794}"/>
              </a:ext>
            </a:extLst>
          </p:cNvPr>
          <p:cNvSpPr txBox="1"/>
          <p:nvPr userDrawn="1"/>
        </p:nvSpPr>
        <p:spPr>
          <a:xfrm rot="16200000">
            <a:off x="-421424" y="704741"/>
            <a:ext cx="1771434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CH" sz="3600">
                <a:solidFill>
                  <a:schemeClr val="accent2">
                    <a:lumMod val="75000"/>
                  </a:schemeClr>
                </a:solidFill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661822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600" b="1" kern="1200">
          <a:solidFill>
            <a:srgbClr val="004595"/>
          </a:solidFill>
          <a:effectLst/>
          <a:latin typeface="Century Gothic" panose="020B0502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habits, fiction, Film d’action&#10;&#10;Le contenu généré par l’IA peut être incorrect.">
            <a:extLst>
              <a:ext uri="{FF2B5EF4-FFF2-40B4-BE49-F238E27FC236}">
                <a16:creationId xmlns:a16="http://schemas.microsoft.com/office/drawing/2014/main" id="{6830DCC0-9BAD-4A86-665B-45C6E26D67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761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oiseau, Emblème, symbole&#10;&#10;Le contenu généré par l’IA peut être incorrect.">
            <a:extLst>
              <a:ext uri="{FF2B5EF4-FFF2-40B4-BE49-F238E27FC236}">
                <a16:creationId xmlns:a16="http://schemas.microsoft.com/office/drawing/2014/main" id="{600D8870-5C1B-DFC1-CFD2-90070E7C2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DA2A75A-F982-E550-6F34-0BAFA4114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3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TOP 10 des risques de sécurité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B057434-1C64-9CF1-4125-1A3A4D1C0B2E}"/>
              </a:ext>
            </a:extLst>
          </p:cNvPr>
          <p:cNvSpPr/>
          <p:nvPr/>
        </p:nvSpPr>
        <p:spPr>
          <a:xfrm>
            <a:off x="0" y="6705600"/>
            <a:ext cx="18197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435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 la fin de la séquence, vous serez capables de :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Citer les 10 risques de sécurité les plus répandus dans l’ordre de risque (top 10)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16.01.2026</a:t>
            </a:fld>
            <a:endParaRPr lang="fr-CH" dirty="0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2C14807A-4646-6AA4-F22C-0DF7E408E443}"/>
              </a:ext>
            </a:extLst>
          </p:cNvPr>
          <p:cNvSpPr/>
          <p:nvPr/>
        </p:nvSpPr>
        <p:spPr>
          <a:xfrm>
            <a:off x="0" y="6705600"/>
            <a:ext cx="36394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79150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 la fin de la séquence, vous serez capables de :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Citer les 10 risques de sécurité les plus répandus dans l’ordre de risque (top 10)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Expliquer avec ses propres mots le principe de chacun de ces risques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54E822BA-75A1-4CF0-16F1-8499C441775F}"/>
              </a:ext>
            </a:extLst>
          </p:cNvPr>
          <p:cNvSpPr/>
          <p:nvPr/>
        </p:nvSpPr>
        <p:spPr>
          <a:xfrm>
            <a:off x="0" y="6705600"/>
            <a:ext cx="54591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8574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 la fin de la séquence, vous serez capables de :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Citer les 10 risques de sécurité les plus répandus dans l’ordre de risque (top 10)</a:t>
            </a:r>
          </a:p>
          <a:p>
            <a:r>
              <a:rPr lang="fr-CH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Expliquez avec ses propres mots le principe de chacun de ces risques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Expliquer avec ses propres mots les contre-mesures à ces risques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A0603B42-F47A-EC33-1A4F-CFB57A176C17}"/>
              </a:ext>
            </a:extLst>
          </p:cNvPr>
          <p:cNvSpPr/>
          <p:nvPr/>
        </p:nvSpPr>
        <p:spPr>
          <a:xfrm>
            <a:off x="0" y="6705600"/>
            <a:ext cx="72788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62745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 la fin de la séquence, vous serez capables de :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Citer les 10 risques de sécurité les plus répandus dans l’ordre de risque (top 10)</a:t>
            </a: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Expliquer avec vos propres mots le principe de chacun de ces risques</a:t>
            </a:r>
          </a:p>
          <a:p>
            <a:r>
              <a:rPr lang="fr-CH" dirty="0">
                <a:effectLst/>
                <a:latin typeface="Century Gothic" panose="020B0502020202020204" pitchFamily="34" charset="0"/>
              </a:rPr>
              <a:t>Expliquer ses vos propres mots les contre-mesures à ces risques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6890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Un moyen d’éviter les radars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16.01.2026</a:t>
            </a:fld>
            <a:endParaRPr lang="fr-CH"/>
          </a:p>
        </p:txBody>
      </p:sp>
      <p:pic>
        <p:nvPicPr>
          <p:cNvPr id="8" name="Picture 7" descr="A black car parked in a parking lot&#10;&#10;Description automatically generated">
            <a:extLst>
              <a:ext uri="{FF2B5EF4-FFF2-40B4-BE49-F238E27FC236}">
                <a16:creationId xmlns:a16="http://schemas.microsoft.com/office/drawing/2014/main" id="{59C598AA-765D-689A-CC40-74FE726FB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573" y="1520746"/>
            <a:ext cx="6208290" cy="4656217"/>
          </a:xfrm>
          <a:prstGeom prst="rect">
            <a:avLst/>
          </a:prstGeom>
        </p:spPr>
      </p:pic>
      <p:sp>
        <p:nvSpPr>
          <p:cNvPr id="5" name="PB">
            <a:extLst>
              <a:ext uri="{FF2B5EF4-FFF2-40B4-BE49-F238E27FC236}">
                <a16:creationId xmlns:a16="http://schemas.microsoft.com/office/drawing/2014/main" id="{74F19957-4244-BBD1-20C5-7990EB18F41A}"/>
              </a:ext>
            </a:extLst>
          </p:cNvPr>
          <p:cNvSpPr/>
          <p:nvPr/>
        </p:nvSpPr>
        <p:spPr>
          <a:xfrm>
            <a:off x="0" y="6705600"/>
            <a:ext cx="109182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55993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Activité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Sans moyen d’aide extérieure</a:t>
            </a:r>
          </a:p>
          <a:p>
            <a:r>
              <a:rPr lang="fr-CH" dirty="0"/>
              <a:t>Par groupe de : 3</a:t>
            </a:r>
          </a:p>
          <a:p>
            <a:r>
              <a:rPr lang="fr-CH" dirty="0"/>
              <a:t>Réflexion :</a:t>
            </a:r>
          </a:p>
          <a:p>
            <a:pPr lvl="1"/>
            <a:r>
              <a:rPr lang="fr-CH" dirty="0"/>
              <a:t>Sur les différentes </a:t>
            </a:r>
            <a:r>
              <a:rPr lang="fr-CH" b="1" u="sng" dirty="0"/>
              <a:t>causes</a:t>
            </a:r>
            <a:r>
              <a:rPr lang="fr-CH" dirty="0"/>
              <a:t> de risques qui pourraient nuire à l’application de gestion des infractions (effet direct)</a:t>
            </a:r>
          </a:p>
          <a:p>
            <a:pPr lvl="1"/>
            <a:r>
              <a:rPr lang="fr-CH" dirty="0"/>
              <a:t>Sur les différents risques qui pourraient impacter l’entreprise et ses revenus (effet indirect)</a:t>
            </a:r>
          </a:p>
          <a:p>
            <a:r>
              <a:rPr lang="fr-CH" dirty="0"/>
              <a:t>Temps à disposition : 15 mn</a:t>
            </a:r>
          </a:p>
          <a:p>
            <a:r>
              <a:rPr lang="fr-CH" dirty="0"/>
              <a:t>Mettez les post-it sur le tableau blanc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9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356A7301-2A35-94D2-EB45-43D7F56FF24E}"/>
              </a:ext>
            </a:extLst>
          </p:cNvPr>
          <p:cNvSpPr/>
          <p:nvPr/>
        </p:nvSpPr>
        <p:spPr>
          <a:xfrm>
            <a:off x="0" y="6705600"/>
            <a:ext cx="127379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94078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Importance de la sécurité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Fuite de données personnelles et sensibles</a:t>
            </a:r>
          </a:p>
          <a:p>
            <a:r>
              <a:rPr lang="fr-CH"/>
              <a:t>Réputation</a:t>
            </a:r>
          </a:p>
          <a:p>
            <a:r>
              <a:rPr lang="fr-CH"/>
              <a:t>Conséquences judiciaires et pénales</a:t>
            </a:r>
          </a:p>
          <a:p>
            <a:endParaRPr lang="fr-CH"/>
          </a:p>
          <a:p>
            <a:r>
              <a:rPr lang="fr-CH"/>
              <a:t>Statistiques :</a:t>
            </a:r>
          </a:p>
          <a:p>
            <a:pPr lvl="1"/>
            <a:r>
              <a:rPr lang="fr-CH"/>
              <a:t>2365 attaques en 2023, impactant 343’338’964 personnes</a:t>
            </a:r>
          </a:p>
          <a:p>
            <a:pPr lvl="1"/>
            <a:r>
              <a:rPr lang="fr-CH"/>
              <a:t>Une fuite de donnée coûte 4.45 </a:t>
            </a:r>
            <a:r>
              <a:rPr lang="fr-CH" err="1"/>
              <a:t>mio</a:t>
            </a:r>
            <a:r>
              <a:rPr lang="fr-CH"/>
              <a:t> USD en moyenne</a:t>
            </a:r>
          </a:p>
          <a:p>
            <a:pPr lvl="1"/>
            <a:r>
              <a:rPr lang="fr-CH"/>
              <a:t>Phishing, Malware, </a:t>
            </a:r>
            <a:r>
              <a:rPr lang="fr-CH" err="1"/>
              <a:t>Ddos</a:t>
            </a:r>
            <a:r>
              <a:rPr lang="fr-CH"/>
              <a:t>, fuite de données</a:t>
            </a:r>
          </a:p>
          <a:p>
            <a:pPr lvl="1"/>
            <a:r>
              <a:rPr lang="fr-CH"/>
              <a:t>Coût total estimé en 2025 : 10.5 trillions USD</a:t>
            </a:r>
          </a:p>
          <a:p>
            <a:pPr lvl="1"/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10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BD384CC5-E913-5A53-BA2B-52EEFEFD1521}"/>
              </a:ext>
            </a:extLst>
          </p:cNvPr>
          <p:cNvSpPr/>
          <p:nvPr/>
        </p:nvSpPr>
        <p:spPr>
          <a:xfrm>
            <a:off x="0" y="6705600"/>
            <a:ext cx="145576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8641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OWASP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8993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OWASP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  <a:p>
            <a:r>
              <a:rPr lang="en-US" b="1"/>
              <a:t>Open Web Application Security Project</a:t>
            </a:r>
          </a:p>
          <a:p>
            <a:r>
              <a:rPr lang="fr-CH"/>
              <a:t>Organisation internationale à but non lucratif</a:t>
            </a:r>
          </a:p>
          <a:p>
            <a:r>
              <a:rPr lang="fr-CH"/>
              <a:t>Sécurité des applications Web</a:t>
            </a:r>
          </a:p>
          <a:p>
            <a:r>
              <a:rPr lang="fr-CH"/>
              <a:t>Leur projet le plus connu est l’OWASP Top 10</a:t>
            </a:r>
          </a:p>
          <a:p>
            <a:endParaRPr lang="fr-CH"/>
          </a:p>
          <a:p>
            <a:r>
              <a:rPr lang="fr-CH"/>
              <a:t>Vision : «</a:t>
            </a:r>
            <a:r>
              <a:rPr lang="fr-CH" i="1"/>
              <a:t>No more </a:t>
            </a:r>
            <a:r>
              <a:rPr lang="fr-CH" i="1" err="1"/>
              <a:t>insecure</a:t>
            </a:r>
            <a:r>
              <a:rPr lang="fr-CH" i="1"/>
              <a:t> software»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12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4AF2FBA4-3B16-D8D5-8826-BB92ACC083D8}"/>
              </a:ext>
            </a:extLst>
          </p:cNvPr>
          <p:cNvSpPr/>
          <p:nvPr/>
        </p:nvSpPr>
        <p:spPr>
          <a:xfrm>
            <a:off x="0" y="6705600"/>
            <a:ext cx="181970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93010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top 10 version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sz="3200" dirty="0">
                <a:highlight>
                  <a:srgbClr val="FFFF00"/>
                </a:highlight>
              </a:rPr>
              <a:t>Broken Access Control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13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68903763-1A3C-E9BE-F9D5-CE0BF0FB2BD4}"/>
              </a:ext>
            </a:extLst>
          </p:cNvPr>
          <p:cNvSpPr/>
          <p:nvPr/>
        </p:nvSpPr>
        <p:spPr>
          <a:xfrm>
            <a:off x="0" y="6705600"/>
            <a:ext cx="200167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3241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top 10 version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Broken Access Control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highlight>
                  <a:srgbClr val="FFFF00"/>
                </a:highlight>
              </a:rPr>
              <a:t>Security </a:t>
            </a:r>
            <a:r>
              <a:rPr lang="fr-CH" dirty="0" err="1">
                <a:highlight>
                  <a:srgbClr val="FFFF00"/>
                </a:highlight>
              </a:rPr>
              <a:t>Misconfiguration</a:t>
            </a:r>
            <a:endParaRPr lang="fr-CH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14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7CE9533D-12EA-E738-B8BD-1000EC209143}"/>
              </a:ext>
            </a:extLst>
          </p:cNvPr>
          <p:cNvSpPr/>
          <p:nvPr/>
        </p:nvSpPr>
        <p:spPr>
          <a:xfrm>
            <a:off x="0" y="6705600"/>
            <a:ext cx="218364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97100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top 10 version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Broken Access Control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Security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Misconfiguration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highlight>
                  <a:srgbClr val="FFFF00"/>
                </a:highlight>
              </a:rPr>
              <a:t>Software </a:t>
            </a:r>
            <a:r>
              <a:rPr lang="fr-CH" dirty="0" err="1">
                <a:highlight>
                  <a:srgbClr val="FFFF00"/>
                </a:highlight>
              </a:rPr>
              <a:t>Supply</a:t>
            </a:r>
            <a:r>
              <a:rPr lang="fr-CH" dirty="0">
                <a:highlight>
                  <a:srgbClr val="FFFF00"/>
                </a:highlight>
              </a:rPr>
              <a:t> Chain </a:t>
            </a:r>
            <a:r>
              <a:rPr lang="fr-CH" dirty="0" err="1">
                <a:highlight>
                  <a:srgbClr val="FFFF00"/>
                </a:highlight>
              </a:rPr>
              <a:t>Failures</a:t>
            </a:r>
            <a:endParaRPr lang="fr-CH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15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34844478-DB16-7A27-61AA-C5B436C5F03E}"/>
              </a:ext>
            </a:extLst>
          </p:cNvPr>
          <p:cNvSpPr/>
          <p:nvPr/>
        </p:nvSpPr>
        <p:spPr>
          <a:xfrm>
            <a:off x="0" y="6705600"/>
            <a:ext cx="236561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40483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top 10 version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Broken Access Control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Security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Misconfiguration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Software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Supply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Chain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highlight>
                  <a:srgbClr val="FFFF00"/>
                </a:highlight>
              </a:rPr>
              <a:t>Cryptographic</a:t>
            </a:r>
            <a:r>
              <a:rPr lang="fr-CH" dirty="0">
                <a:highlight>
                  <a:srgbClr val="FFFF00"/>
                </a:highlight>
              </a:rPr>
              <a:t> </a:t>
            </a:r>
            <a:r>
              <a:rPr lang="fr-CH" dirty="0" err="1">
                <a:highlight>
                  <a:srgbClr val="FFFF00"/>
                </a:highlight>
              </a:rPr>
              <a:t>failures</a:t>
            </a:r>
            <a:endParaRPr lang="fr-CH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16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B6AC5082-F79E-FB6A-4056-D4889757D4BD}"/>
              </a:ext>
            </a:extLst>
          </p:cNvPr>
          <p:cNvSpPr/>
          <p:nvPr/>
        </p:nvSpPr>
        <p:spPr>
          <a:xfrm>
            <a:off x="0" y="6705600"/>
            <a:ext cx="254758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46785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top 10 version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Broken Access Control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Security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Misconfiguration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Software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Supply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Chain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Cryptographic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highlight>
                  <a:srgbClr val="FFFF00"/>
                </a:highlight>
              </a:rPr>
              <a:t>Injection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17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7EBE2D7A-BA8A-72A2-16F4-87842B9F92D2}"/>
              </a:ext>
            </a:extLst>
          </p:cNvPr>
          <p:cNvSpPr/>
          <p:nvPr/>
        </p:nvSpPr>
        <p:spPr>
          <a:xfrm>
            <a:off x="0" y="6705600"/>
            <a:ext cx="272955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33074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top 10 version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Broken Access Control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Security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Misconfiguration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Software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Supply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Chain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Cryptographic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Injection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highlight>
                  <a:srgbClr val="FFFF00"/>
                </a:highlight>
              </a:rPr>
              <a:t>Insecure</a:t>
            </a:r>
            <a:r>
              <a:rPr lang="fr-CH" dirty="0">
                <a:highlight>
                  <a:srgbClr val="FFFF00"/>
                </a:highlight>
              </a:rPr>
              <a:t> Design</a:t>
            </a:r>
            <a:endParaRPr lang="fr-CH" sz="32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18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C1CF7718-1FD8-D375-CE9B-586F94C698E5}"/>
              </a:ext>
            </a:extLst>
          </p:cNvPr>
          <p:cNvSpPr/>
          <p:nvPr/>
        </p:nvSpPr>
        <p:spPr>
          <a:xfrm>
            <a:off x="0" y="6705600"/>
            <a:ext cx="2911522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59884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top 10 version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Broken Access Control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Security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Misconfiguration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Software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Supply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Chain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Cryptographic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Injection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Insecure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Design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highlight>
                  <a:srgbClr val="FFFF00"/>
                </a:highlight>
              </a:rPr>
              <a:t>Authentication</a:t>
            </a:r>
            <a:r>
              <a:rPr lang="fr-CH" dirty="0">
                <a:highlight>
                  <a:srgbClr val="FFFF00"/>
                </a:highlight>
              </a:rPr>
              <a:t> </a:t>
            </a:r>
            <a:r>
              <a:rPr lang="fr-CH" dirty="0" err="1">
                <a:highlight>
                  <a:srgbClr val="FFFF00"/>
                </a:highlight>
              </a:rPr>
              <a:t>Failures</a:t>
            </a:r>
            <a:endParaRPr lang="fr-CH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19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5C67F259-9C22-39DE-F5F5-603216B48AA5}"/>
              </a:ext>
            </a:extLst>
          </p:cNvPr>
          <p:cNvSpPr/>
          <p:nvPr/>
        </p:nvSpPr>
        <p:spPr>
          <a:xfrm>
            <a:off x="0" y="6705600"/>
            <a:ext cx="309349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43911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top 10 version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Broken Access Control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Security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Misconfiguration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Software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Supply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Chain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Cryptographic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Injection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Insecure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Design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Authentication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highlight>
                  <a:srgbClr val="FFFF00"/>
                </a:highlight>
              </a:rPr>
              <a:t>Software and Data </a:t>
            </a:r>
            <a:r>
              <a:rPr lang="fr-CH" dirty="0" err="1">
                <a:highlight>
                  <a:srgbClr val="FFFF00"/>
                </a:highlight>
              </a:rPr>
              <a:t>Integrity</a:t>
            </a:r>
            <a:r>
              <a:rPr lang="fr-CH" dirty="0">
                <a:highlight>
                  <a:srgbClr val="FFFF00"/>
                </a:highlight>
              </a:rPr>
              <a:t> </a:t>
            </a:r>
            <a:r>
              <a:rPr lang="fr-CH" dirty="0" err="1">
                <a:highlight>
                  <a:srgbClr val="FFFF00"/>
                </a:highlight>
              </a:rPr>
              <a:t>Failures</a:t>
            </a:r>
            <a:endParaRPr lang="fr-CH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20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70A3204A-CAF4-54F0-DDAC-742CC9492D97}"/>
              </a:ext>
            </a:extLst>
          </p:cNvPr>
          <p:cNvSpPr/>
          <p:nvPr/>
        </p:nvSpPr>
        <p:spPr>
          <a:xfrm>
            <a:off x="0" y="6705600"/>
            <a:ext cx="327546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81265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top 10 version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Broken Access Control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Security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Misconfiguration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Software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Supply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Chain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Cryptographic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Injection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Insecure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Design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Authentication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Software and Data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Integrity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highlight>
                  <a:srgbClr val="FFFF00"/>
                </a:highlight>
              </a:rPr>
              <a:t>Security </a:t>
            </a:r>
            <a:r>
              <a:rPr lang="fr-CH" dirty="0" err="1">
                <a:highlight>
                  <a:srgbClr val="FFFF00"/>
                </a:highlight>
              </a:rPr>
              <a:t>Logging</a:t>
            </a:r>
            <a:r>
              <a:rPr lang="fr-CH" dirty="0">
                <a:highlight>
                  <a:srgbClr val="FFFF00"/>
                </a:highlight>
              </a:rPr>
              <a:t> and Monitoring </a:t>
            </a:r>
            <a:r>
              <a:rPr lang="fr-CH" dirty="0" err="1">
                <a:highlight>
                  <a:srgbClr val="FFFF00"/>
                </a:highlight>
              </a:rPr>
              <a:t>Failures</a:t>
            </a:r>
            <a:endParaRPr lang="fr-CH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21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0839BF87-A41C-D56E-561B-60B878F8FA3A}"/>
              </a:ext>
            </a:extLst>
          </p:cNvPr>
          <p:cNvSpPr/>
          <p:nvPr/>
        </p:nvSpPr>
        <p:spPr>
          <a:xfrm>
            <a:off x="0" y="6705600"/>
            <a:ext cx="345743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91074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top 10 version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Broken Access Control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Security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Misconfiguration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Software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Supply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Chain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Cryptographic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Injection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Insecure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Design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Authentication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Software and Data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Integrity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Security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Logging</a:t>
            </a:r>
            <a:r>
              <a:rPr lang="fr-CH" dirty="0">
                <a:solidFill>
                  <a:schemeClr val="tx1">
                    <a:lumMod val="65000"/>
                  </a:schemeClr>
                </a:solidFill>
              </a:rPr>
              <a:t> and Monitoring </a:t>
            </a:r>
            <a:r>
              <a:rPr lang="fr-CH" dirty="0" err="1">
                <a:solidFill>
                  <a:schemeClr val="tx1">
                    <a:lumMod val="65000"/>
                  </a:schemeClr>
                </a:solidFill>
              </a:rPr>
              <a:t>Failures</a:t>
            </a:r>
            <a:endParaRPr lang="fr-CH" dirty="0">
              <a:solidFill>
                <a:schemeClr val="tx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CH" dirty="0" err="1">
                <a:highlight>
                  <a:srgbClr val="FFFF00"/>
                </a:highlight>
              </a:rPr>
              <a:t>Mishandling</a:t>
            </a:r>
            <a:r>
              <a:rPr lang="fr-CH" dirty="0">
                <a:highlight>
                  <a:srgbClr val="FFFF00"/>
                </a:highlight>
              </a:rPr>
              <a:t> of </a:t>
            </a:r>
            <a:r>
              <a:rPr lang="fr-CH" dirty="0" err="1">
                <a:highlight>
                  <a:srgbClr val="FFFF00"/>
                </a:highlight>
              </a:rPr>
              <a:t>Exceptional</a:t>
            </a:r>
            <a:r>
              <a:rPr lang="fr-CH" dirty="0">
                <a:highlight>
                  <a:srgbClr val="FFFF00"/>
                </a:highlight>
              </a:rPr>
              <a:t>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22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32344E3C-C2B6-A9C2-6714-23907A9A2CB7}"/>
              </a:ext>
            </a:extLst>
          </p:cNvPr>
          <p:cNvSpPr/>
          <p:nvPr/>
        </p:nvSpPr>
        <p:spPr>
          <a:xfrm>
            <a:off x="0" y="6705600"/>
            <a:ext cx="363940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12579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 top 10 version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CH" dirty="0"/>
              <a:t>Broken Access Control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/>
              <a:t>Security </a:t>
            </a:r>
            <a:r>
              <a:rPr lang="fr-CH" dirty="0" err="1"/>
              <a:t>Misconfiguration</a:t>
            </a:r>
            <a:endParaRPr lang="fr-CH" dirty="0"/>
          </a:p>
          <a:p>
            <a:pPr marL="514350" indent="-514350">
              <a:buFont typeface="+mj-lt"/>
              <a:buAutoNum type="arabicPeriod"/>
            </a:pPr>
            <a:r>
              <a:rPr lang="fr-CH" dirty="0"/>
              <a:t>Software </a:t>
            </a:r>
            <a:r>
              <a:rPr lang="fr-CH" dirty="0" err="1"/>
              <a:t>Supply</a:t>
            </a:r>
            <a:r>
              <a:rPr lang="fr-CH" dirty="0"/>
              <a:t> Chain </a:t>
            </a:r>
            <a:r>
              <a:rPr lang="fr-CH" dirty="0" err="1"/>
              <a:t>Failures</a:t>
            </a:r>
            <a:endParaRPr lang="fr-CH" dirty="0"/>
          </a:p>
          <a:p>
            <a:pPr marL="514350" indent="-514350">
              <a:buFont typeface="+mj-lt"/>
              <a:buAutoNum type="arabicPeriod"/>
            </a:pPr>
            <a:r>
              <a:rPr lang="fr-CH" dirty="0" err="1"/>
              <a:t>Cryptographic</a:t>
            </a:r>
            <a:r>
              <a:rPr lang="fr-CH" dirty="0"/>
              <a:t> </a:t>
            </a:r>
            <a:r>
              <a:rPr lang="fr-CH" dirty="0" err="1"/>
              <a:t>failures</a:t>
            </a:r>
            <a:endParaRPr lang="fr-CH" dirty="0"/>
          </a:p>
          <a:p>
            <a:pPr marL="514350" indent="-514350">
              <a:buFont typeface="+mj-lt"/>
              <a:buAutoNum type="arabicPeriod"/>
            </a:pPr>
            <a:r>
              <a:rPr lang="fr-CH" dirty="0"/>
              <a:t>Injection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/>
              <a:t>Insecure</a:t>
            </a:r>
            <a:r>
              <a:rPr lang="fr-CH" dirty="0"/>
              <a:t> Design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 err="1"/>
              <a:t>Authentication</a:t>
            </a:r>
            <a:r>
              <a:rPr lang="fr-CH" dirty="0"/>
              <a:t> </a:t>
            </a:r>
            <a:r>
              <a:rPr lang="fr-CH" dirty="0" err="1"/>
              <a:t>Failures</a:t>
            </a:r>
            <a:r>
              <a:rPr lang="fr-CH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fr-CH" dirty="0"/>
              <a:t>Software and Data </a:t>
            </a:r>
            <a:r>
              <a:rPr lang="fr-CH" dirty="0" err="1"/>
              <a:t>Integrity</a:t>
            </a:r>
            <a:r>
              <a:rPr lang="fr-CH" dirty="0"/>
              <a:t> </a:t>
            </a:r>
            <a:r>
              <a:rPr lang="fr-CH" dirty="0" err="1"/>
              <a:t>Failures</a:t>
            </a:r>
            <a:endParaRPr lang="fr-CH" dirty="0"/>
          </a:p>
          <a:p>
            <a:pPr marL="514350" indent="-514350">
              <a:buFont typeface="+mj-lt"/>
              <a:buAutoNum type="arabicPeriod"/>
            </a:pPr>
            <a:r>
              <a:rPr lang="fr-CH" dirty="0"/>
              <a:t>Security </a:t>
            </a:r>
            <a:r>
              <a:rPr lang="fr-CH" dirty="0" err="1"/>
              <a:t>Logging</a:t>
            </a:r>
            <a:r>
              <a:rPr lang="fr-CH" dirty="0"/>
              <a:t> and Monitoring </a:t>
            </a:r>
            <a:r>
              <a:rPr lang="fr-CH" dirty="0" err="1"/>
              <a:t>Failures</a:t>
            </a:r>
            <a:endParaRPr lang="fr-CH" dirty="0"/>
          </a:p>
          <a:p>
            <a:pPr marL="514350" indent="-514350">
              <a:buFont typeface="+mj-lt"/>
              <a:buAutoNum type="arabicPeriod"/>
            </a:pPr>
            <a:r>
              <a:rPr lang="fr-CH" dirty="0" err="1"/>
              <a:t>Mishandling</a:t>
            </a:r>
            <a:r>
              <a:rPr lang="fr-CH" dirty="0"/>
              <a:t> of </a:t>
            </a:r>
            <a:r>
              <a:rPr lang="fr-CH" dirty="0" err="1"/>
              <a:t>Exceptional</a:t>
            </a:r>
            <a:r>
              <a:rPr lang="fr-CH" dirty="0"/>
              <a:t> Conditions</a:t>
            </a:r>
          </a:p>
          <a:p>
            <a:endParaRPr lang="fr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23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9F161C84-448E-F63D-655A-999B429C93FB}"/>
              </a:ext>
            </a:extLst>
          </p:cNvPr>
          <p:cNvSpPr/>
          <p:nvPr/>
        </p:nvSpPr>
        <p:spPr>
          <a:xfrm>
            <a:off x="0" y="6705600"/>
            <a:ext cx="382137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38651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B">
            <a:extLst>
              <a:ext uri="{FF2B5EF4-FFF2-40B4-BE49-F238E27FC236}">
                <a16:creationId xmlns:a16="http://schemas.microsoft.com/office/drawing/2014/main" id="{71CDBB56-3E68-9A2C-73D9-B6C4943EDB8C}"/>
              </a:ext>
            </a:extLst>
          </p:cNvPr>
          <p:cNvSpPr/>
          <p:nvPr/>
        </p:nvSpPr>
        <p:spPr>
          <a:xfrm>
            <a:off x="0" y="6705600"/>
            <a:ext cx="400334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5A3EABA-C8D6-28E9-1645-FE56248AEF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DE879783-60F7-7B7C-DDB4-EA5DDAD2BE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62770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Activité 1 : Définitions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71CDBB56-3E68-9A2C-73D9-B6C4943EDB8C}"/>
              </a:ext>
            </a:extLst>
          </p:cNvPr>
          <p:cNvSpPr/>
          <p:nvPr/>
        </p:nvSpPr>
        <p:spPr>
          <a:xfrm>
            <a:off x="0" y="6705600"/>
            <a:ext cx="400334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30712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Le top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Travail individuel</a:t>
            </a:r>
          </a:p>
          <a:p>
            <a:r>
              <a:rPr lang="fr-CH"/>
              <a:t>Temps à disposition : 5 mn</a:t>
            </a:r>
          </a:p>
          <a:p>
            <a:r>
              <a:rPr lang="fr-CH"/>
              <a:t>E-183-ALL-OWASP-Definition.docx (imprimé)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26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7380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1. Broken Access Control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24BEAC11-BD4B-5523-B58C-9DA54544DD10}"/>
              </a:ext>
            </a:extLst>
          </p:cNvPr>
          <p:cNvSpPr/>
          <p:nvPr/>
        </p:nvSpPr>
        <p:spPr>
          <a:xfrm>
            <a:off x="0" y="6705600"/>
            <a:ext cx="4367283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20826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Contrôle d’accès défaillant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Un contrôle d’accès est défaillant lorsque des utilisateurs accèdent à des informations qui ne leur sont pas destinées.</a:t>
            </a:r>
          </a:p>
          <a:p>
            <a:endParaRPr lang="fr-CH"/>
          </a:p>
          <a:p>
            <a:r>
              <a:rPr lang="fr-CH"/>
              <a:t>Par exemple :</a:t>
            </a:r>
          </a:p>
          <a:p>
            <a:pPr lvl="1"/>
            <a:r>
              <a:rPr lang="fr-CH"/>
              <a:t>Un document est imprimé et est visible de tous</a:t>
            </a:r>
          </a:p>
          <a:p>
            <a:pPr lvl="1"/>
            <a:r>
              <a:rPr lang="fr-CH"/>
              <a:t>Un e-mail est envoyé au mauvais destinataire</a:t>
            </a:r>
          </a:p>
          <a:p>
            <a:pPr lvl="1"/>
            <a:r>
              <a:rPr lang="fr-CH"/>
              <a:t>Une page personnelle de votre système est accessible à un autre utilisateur</a:t>
            </a:r>
          </a:p>
          <a:p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28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CA40A40B-2372-AF44-4374-BF07604B4A79}"/>
              </a:ext>
            </a:extLst>
          </p:cNvPr>
          <p:cNvSpPr/>
          <p:nvPr/>
        </p:nvSpPr>
        <p:spPr>
          <a:xfrm>
            <a:off x="0" y="6705600"/>
            <a:ext cx="454925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17194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Principe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29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0A5F56-C959-AB96-6D64-B0CABE91FA8E}"/>
              </a:ext>
            </a:extLst>
          </p:cNvPr>
          <p:cNvSpPr/>
          <p:nvPr/>
        </p:nvSpPr>
        <p:spPr>
          <a:xfrm>
            <a:off x="4184563" y="3750907"/>
            <a:ext cx="2807369" cy="106801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3600">
                <a:solidFill>
                  <a:schemeClr val="bg1"/>
                </a:solidFill>
              </a:rPr>
              <a:t>Application</a:t>
            </a:r>
          </a:p>
        </p:txBody>
      </p:sp>
      <p:pic>
        <p:nvPicPr>
          <p:cNvPr id="9" name="Graphic 8" descr="Users outline">
            <a:extLst>
              <a:ext uri="{FF2B5EF4-FFF2-40B4-BE49-F238E27FC236}">
                <a16:creationId xmlns:a16="http://schemas.microsoft.com/office/drawing/2014/main" id="{0236B00C-7726-6A33-064E-6E37A0F52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1519" y="1719275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F5BC19-9EE0-17CF-E6F2-FCE93E1B7521}"/>
              </a:ext>
            </a:extLst>
          </p:cNvPr>
          <p:cNvCxnSpPr>
            <a:cxnSpLocks/>
          </p:cNvCxnSpPr>
          <p:nvPr/>
        </p:nvCxnSpPr>
        <p:spPr>
          <a:xfrm>
            <a:off x="4166370" y="2827295"/>
            <a:ext cx="1167630" cy="79822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0F5004-E875-1564-228C-DB486F4136E3}"/>
              </a:ext>
            </a:extLst>
          </p:cNvPr>
          <p:cNvSpPr txBox="1"/>
          <p:nvPr/>
        </p:nvSpPr>
        <p:spPr>
          <a:xfrm>
            <a:off x="3745910" y="2461610"/>
            <a:ext cx="70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err="1">
                <a:solidFill>
                  <a:schemeClr val="bg1"/>
                </a:solidFill>
              </a:rPr>
              <a:t>Users</a:t>
            </a:r>
            <a:endParaRPr lang="fr-CH">
              <a:solidFill>
                <a:schemeClr val="bg1"/>
              </a:solidFill>
            </a:endParaRPr>
          </a:p>
        </p:txBody>
      </p:sp>
      <p:pic>
        <p:nvPicPr>
          <p:cNvPr id="17" name="Graphic 16" descr="Detective male with solid fill">
            <a:extLst>
              <a:ext uri="{FF2B5EF4-FFF2-40B4-BE49-F238E27FC236}">
                <a16:creationId xmlns:a16="http://schemas.microsoft.com/office/drawing/2014/main" id="{BB436655-C376-A6AD-37CC-345EEB2AE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3102" y="1789341"/>
            <a:ext cx="731211" cy="7312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8066A1C-FE7C-3959-119E-FD2332E6A6C6}"/>
              </a:ext>
            </a:extLst>
          </p:cNvPr>
          <p:cNvSpPr txBox="1"/>
          <p:nvPr/>
        </p:nvSpPr>
        <p:spPr>
          <a:xfrm>
            <a:off x="5919600" y="2379905"/>
            <a:ext cx="104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err="1">
                <a:solidFill>
                  <a:srgbClr val="7F0000"/>
                </a:solidFill>
              </a:rPr>
              <a:t>Attackers</a:t>
            </a:r>
            <a:endParaRPr lang="fr-CH">
              <a:solidFill>
                <a:srgbClr val="7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5AA25B-DBE8-3CB7-D74F-E4483DD48B70}"/>
              </a:ext>
            </a:extLst>
          </p:cNvPr>
          <p:cNvCxnSpPr>
            <a:cxnSpLocks/>
          </p:cNvCxnSpPr>
          <p:nvPr/>
        </p:nvCxnSpPr>
        <p:spPr>
          <a:xfrm flipH="1">
            <a:off x="5815263" y="2725194"/>
            <a:ext cx="505326" cy="900322"/>
          </a:xfrm>
          <a:prstGeom prst="straightConnector1">
            <a:avLst/>
          </a:prstGeom>
          <a:ln w="38100">
            <a:solidFill>
              <a:srgbClr val="AD2B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B">
            <a:extLst>
              <a:ext uri="{FF2B5EF4-FFF2-40B4-BE49-F238E27FC236}">
                <a16:creationId xmlns:a16="http://schemas.microsoft.com/office/drawing/2014/main" id="{157E5CD6-B998-9E91-B4E9-DFFF659302B6}"/>
              </a:ext>
            </a:extLst>
          </p:cNvPr>
          <p:cNvSpPr/>
          <p:nvPr/>
        </p:nvSpPr>
        <p:spPr>
          <a:xfrm>
            <a:off x="0" y="6705600"/>
            <a:ext cx="473122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47594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Principe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30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0A5F56-C959-AB96-6D64-B0CABE91FA8E}"/>
              </a:ext>
            </a:extLst>
          </p:cNvPr>
          <p:cNvSpPr/>
          <p:nvPr/>
        </p:nvSpPr>
        <p:spPr>
          <a:xfrm>
            <a:off x="4184563" y="3750907"/>
            <a:ext cx="2807369" cy="106801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3600">
                <a:solidFill>
                  <a:schemeClr val="bg1"/>
                </a:solidFill>
              </a:rPr>
              <a:t>Application</a:t>
            </a:r>
          </a:p>
        </p:txBody>
      </p:sp>
      <p:pic>
        <p:nvPicPr>
          <p:cNvPr id="9" name="Graphic 8" descr="Users outline">
            <a:extLst>
              <a:ext uri="{FF2B5EF4-FFF2-40B4-BE49-F238E27FC236}">
                <a16:creationId xmlns:a16="http://schemas.microsoft.com/office/drawing/2014/main" id="{0236B00C-7726-6A33-064E-6E37A0F52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1519" y="1719275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F5BC19-9EE0-17CF-E6F2-FCE93E1B7521}"/>
              </a:ext>
            </a:extLst>
          </p:cNvPr>
          <p:cNvCxnSpPr>
            <a:cxnSpLocks/>
          </p:cNvCxnSpPr>
          <p:nvPr/>
        </p:nvCxnSpPr>
        <p:spPr>
          <a:xfrm>
            <a:off x="4166370" y="2827295"/>
            <a:ext cx="1167630" cy="79822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0F5004-E875-1564-228C-DB486F4136E3}"/>
              </a:ext>
            </a:extLst>
          </p:cNvPr>
          <p:cNvSpPr txBox="1"/>
          <p:nvPr/>
        </p:nvSpPr>
        <p:spPr>
          <a:xfrm>
            <a:off x="3745910" y="2461610"/>
            <a:ext cx="70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err="1">
                <a:solidFill>
                  <a:schemeClr val="bg1"/>
                </a:solidFill>
              </a:rPr>
              <a:t>Users</a:t>
            </a:r>
            <a:endParaRPr lang="fr-CH">
              <a:solidFill>
                <a:schemeClr val="bg1"/>
              </a:solidFill>
            </a:endParaRPr>
          </a:p>
        </p:txBody>
      </p:sp>
      <p:pic>
        <p:nvPicPr>
          <p:cNvPr id="17" name="Graphic 16" descr="Detective male with solid fill">
            <a:extLst>
              <a:ext uri="{FF2B5EF4-FFF2-40B4-BE49-F238E27FC236}">
                <a16:creationId xmlns:a16="http://schemas.microsoft.com/office/drawing/2014/main" id="{BB436655-C376-A6AD-37CC-345EEB2AE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3102" y="1789341"/>
            <a:ext cx="731211" cy="7312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8066A1C-FE7C-3959-119E-FD2332E6A6C6}"/>
              </a:ext>
            </a:extLst>
          </p:cNvPr>
          <p:cNvSpPr txBox="1"/>
          <p:nvPr/>
        </p:nvSpPr>
        <p:spPr>
          <a:xfrm>
            <a:off x="5919600" y="2379905"/>
            <a:ext cx="104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err="1">
                <a:solidFill>
                  <a:srgbClr val="7F0000"/>
                </a:solidFill>
              </a:rPr>
              <a:t>Attackers</a:t>
            </a:r>
            <a:endParaRPr lang="fr-CH">
              <a:solidFill>
                <a:srgbClr val="7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5AA25B-DBE8-3CB7-D74F-E4483DD48B70}"/>
              </a:ext>
            </a:extLst>
          </p:cNvPr>
          <p:cNvCxnSpPr>
            <a:cxnSpLocks/>
          </p:cNvCxnSpPr>
          <p:nvPr/>
        </p:nvCxnSpPr>
        <p:spPr>
          <a:xfrm flipH="1">
            <a:off x="5815263" y="2725194"/>
            <a:ext cx="505326" cy="900322"/>
          </a:xfrm>
          <a:prstGeom prst="straightConnector1">
            <a:avLst/>
          </a:prstGeom>
          <a:ln w="38100">
            <a:solidFill>
              <a:srgbClr val="AD2B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928115-7018-31A2-AD18-8CCF9C75B3D1}"/>
              </a:ext>
            </a:extLst>
          </p:cNvPr>
          <p:cNvSpPr txBox="1"/>
          <p:nvPr/>
        </p:nvSpPr>
        <p:spPr>
          <a:xfrm>
            <a:off x="3571519" y="5128608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>
                <a:solidFill>
                  <a:schemeClr val="bg1"/>
                </a:solidFill>
              </a:rPr>
              <a:t>APIs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01DC34-84E5-3A94-0725-F6AF37E2FC12}"/>
              </a:ext>
            </a:extLst>
          </p:cNvPr>
          <p:cNvSpPr txBox="1"/>
          <p:nvPr/>
        </p:nvSpPr>
        <p:spPr>
          <a:xfrm>
            <a:off x="5392298" y="5134572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>
                <a:solidFill>
                  <a:schemeClr val="bg1"/>
                </a:solidFill>
              </a:rPr>
              <a:t>URLs</a:t>
            </a:r>
          </a:p>
        </p:txBody>
      </p:sp>
      <p:sp>
        <p:nvSpPr>
          <p:cNvPr id="12" name="PB">
            <a:extLst>
              <a:ext uri="{FF2B5EF4-FFF2-40B4-BE49-F238E27FC236}">
                <a16:creationId xmlns:a16="http://schemas.microsoft.com/office/drawing/2014/main" id="{2F9696D0-9FF7-07D7-28B8-E68D6595A888}"/>
              </a:ext>
            </a:extLst>
          </p:cNvPr>
          <p:cNvSpPr/>
          <p:nvPr/>
        </p:nvSpPr>
        <p:spPr>
          <a:xfrm>
            <a:off x="0" y="6705600"/>
            <a:ext cx="491319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76560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Principe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0A5F56-C959-AB96-6D64-B0CABE91FA8E}"/>
              </a:ext>
            </a:extLst>
          </p:cNvPr>
          <p:cNvSpPr/>
          <p:nvPr/>
        </p:nvSpPr>
        <p:spPr>
          <a:xfrm>
            <a:off x="5133728" y="4284707"/>
            <a:ext cx="2167013" cy="60684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400">
                <a:solidFill>
                  <a:schemeClr val="bg1"/>
                </a:solidFill>
              </a:rPr>
              <a:t>Application</a:t>
            </a:r>
          </a:p>
        </p:txBody>
      </p:sp>
      <p:pic>
        <p:nvPicPr>
          <p:cNvPr id="9" name="Graphic 8" descr="Users outline">
            <a:extLst>
              <a:ext uri="{FF2B5EF4-FFF2-40B4-BE49-F238E27FC236}">
                <a16:creationId xmlns:a16="http://schemas.microsoft.com/office/drawing/2014/main" id="{0236B00C-7726-6A33-064E-6E37A0F52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631" y="1412875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F5BC19-9EE0-17CF-E6F2-FCE93E1B7521}"/>
              </a:ext>
            </a:extLst>
          </p:cNvPr>
          <p:cNvCxnSpPr>
            <a:cxnSpLocks/>
          </p:cNvCxnSpPr>
          <p:nvPr/>
        </p:nvCxnSpPr>
        <p:spPr>
          <a:xfrm>
            <a:off x="4425196" y="2271183"/>
            <a:ext cx="1167630" cy="79822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0F5004-E875-1564-228C-DB486F4136E3}"/>
              </a:ext>
            </a:extLst>
          </p:cNvPr>
          <p:cNvSpPr txBox="1"/>
          <p:nvPr/>
        </p:nvSpPr>
        <p:spPr>
          <a:xfrm>
            <a:off x="3511791" y="2024154"/>
            <a:ext cx="70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err="1">
                <a:solidFill>
                  <a:schemeClr val="bg1"/>
                </a:solidFill>
              </a:rPr>
              <a:t>Users</a:t>
            </a:r>
            <a:endParaRPr lang="fr-CH">
              <a:solidFill>
                <a:schemeClr val="bg1"/>
              </a:solidFill>
            </a:endParaRPr>
          </a:p>
        </p:txBody>
      </p:sp>
      <p:pic>
        <p:nvPicPr>
          <p:cNvPr id="17" name="Graphic 16" descr="Detective male with solid fill">
            <a:extLst>
              <a:ext uri="{FF2B5EF4-FFF2-40B4-BE49-F238E27FC236}">
                <a16:creationId xmlns:a16="http://schemas.microsoft.com/office/drawing/2014/main" id="{BB436655-C376-A6AD-37CC-345EEB2AE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0477" y="1280632"/>
            <a:ext cx="731211" cy="7312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8066A1C-FE7C-3959-119E-FD2332E6A6C6}"/>
              </a:ext>
            </a:extLst>
          </p:cNvPr>
          <p:cNvSpPr txBox="1"/>
          <p:nvPr/>
        </p:nvSpPr>
        <p:spPr>
          <a:xfrm>
            <a:off x="7182990" y="1916871"/>
            <a:ext cx="104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err="1">
                <a:solidFill>
                  <a:srgbClr val="7F0000"/>
                </a:solidFill>
              </a:rPr>
              <a:t>Attackers</a:t>
            </a:r>
            <a:endParaRPr lang="fr-CH">
              <a:solidFill>
                <a:srgbClr val="7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5AA25B-DBE8-3CB7-D74F-E4483DD48B70}"/>
              </a:ext>
            </a:extLst>
          </p:cNvPr>
          <p:cNvCxnSpPr>
            <a:cxnSpLocks/>
          </p:cNvCxnSpPr>
          <p:nvPr/>
        </p:nvCxnSpPr>
        <p:spPr>
          <a:xfrm flipH="1">
            <a:off x="6692630" y="2317240"/>
            <a:ext cx="916922" cy="752164"/>
          </a:xfrm>
          <a:prstGeom prst="straightConnector1">
            <a:avLst/>
          </a:prstGeom>
          <a:ln w="38100">
            <a:solidFill>
              <a:srgbClr val="AD2B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928115-7018-31A2-AD18-8CCF9C75B3D1}"/>
              </a:ext>
            </a:extLst>
          </p:cNvPr>
          <p:cNvSpPr txBox="1"/>
          <p:nvPr/>
        </p:nvSpPr>
        <p:spPr>
          <a:xfrm>
            <a:off x="3571519" y="5128608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>
                <a:solidFill>
                  <a:schemeClr val="bg1"/>
                </a:solidFill>
              </a:rPr>
              <a:t>APIs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01DC34-84E5-3A94-0725-F6AF37E2FC12}"/>
              </a:ext>
            </a:extLst>
          </p:cNvPr>
          <p:cNvSpPr txBox="1"/>
          <p:nvPr/>
        </p:nvSpPr>
        <p:spPr>
          <a:xfrm>
            <a:off x="5392298" y="5134572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>
                <a:solidFill>
                  <a:schemeClr val="bg1"/>
                </a:solidFill>
              </a:rPr>
              <a:t>URLs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F39964-E8B1-96E6-E6BE-87B3C5ABEDFB}"/>
              </a:ext>
            </a:extLst>
          </p:cNvPr>
          <p:cNvSpPr/>
          <p:nvPr/>
        </p:nvSpPr>
        <p:spPr>
          <a:xfrm>
            <a:off x="4824919" y="3122579"/>
            <a:ext cx="2784633" cy="102202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400">
                <a:solidFill>
                  <a:schemeClr val="bg1"/>
                </a:solidFill>
              </a:rPr>
              <a:t>Middleware d’authentification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88CD97-3421-78AD-1302-1808446D6965}"/>
              </a:ext>
            </a:extLst>
          </p:cNvPr>
          <p:cNvSpPr txBox="1"/>
          <p:nvPr/>
        </p:nvSpPr>
        <p:spPr>
          <a:xfrm>
            <a:off x="7965871" y="3119376"/>
            <a:ext cx="4592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CH">
                <a:solidFill>
                  <a:schemeClr val="bg1"/>
                </a:solidFill>
              </a:rPr>
              <a:t>Vérifie que l’utilisateur soit authentifié</a:t>
            </a:r>
          </a:p>
          <a:p>
            <a:pPr marL="342900" indent="-342900">
              <a:buAutoNum type="arabicPeriod"/>
            </a:pPr>
            <a:r>
              <a:rPr lang="fr-CH">
                <a:solidFill>
                  <a:schemeClr val="bg1"/>
                </a:solidFill>
              </a:rPr>
              <a:t>Vérifie que l’utilisateur utilise </a:t>
            </a:r>
          </a:p>
          <a:p>
            <a:r>
              <a:rPr lang="fr-CH">
                <a:solidFill>
                  <a:schemeClr val="bg1"/>
                </a:solidFill>
              </a:rPr>
              <a:t>       l’application dans la limite de ses droits</a:t>
            </a:r>
          </a:p>
        </p:txBody>
      </p:sp>
      <p:sp>
        <p:nvSpPr>
          <p:cNvPr id="16" name="PB">
            <a:extLst>
              <a:ext uri="{FF2B5EF4-FFF2-40B4-BE49-F238E27FC236}">
                <a16:creationId xmlns:a16="http://schemas.microsoft.com/office/drawing/2014/main" id="{79D91D5A-5344-53B1-B688-95EF07190829}"/>
              </a:ext>
            </a:extLst>
          </p:cNvPr>
          <p:cNvSpPr/>
          <p:nvPr/>
        </p:nvSpPr>
        <p:spPr>
          <a:xfrm>
            <a:off x="0" y="6705600"/>
            <a:ext cx="509516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19980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2. Security </a:t>
            </a:r>
            <a:r>
              <a:rPr lang="fr-CH" dirty="0" err="1">
                <a:solidFill>
                  <a:srgbClr val="004595"/>
                </a:solidFill>
              </a:rPr>
              <a:t>Misconfiguration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0732336E-7090-DFE3-53EF-DEC62C976D14}"/>
              </a:ext>
            </a:extLst>
          </p:cNvPr>
          <p:cNvSpPr/>
          <p:nvPr/>
        </p:nvSpPr>
        <p:spPr>
          <a:xfrm>
            <a:off x="0" y="6705600"/>
            <a:ext cx="8734567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50234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Mauvaise configuration de sécurité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Vulnérabilité liée :</a:t>
            </a:r>
          </a:p>
          <a:p>
            <a:pPr lvl="1"/>
            <a:r>
              <a:rPr lang="fr-CH"/>
              <a:t>à l’absence de </a:t>
            </a:r>
            <a:r>
              <a:rPr lang="fr-CH" err="1"/>
              <a:t>hardening</a:t>
            </a:r>
            <a:r>
              <a:rPr lang="fr-CH"/>
              <a:t>, fonctionnalités inutiles ou inactives</a:t>
            </a:r>
          </a:p>
          <a:p>
            <a:pPr lvl="1"/>
            <a:r>
              <a:rPr lang="fr-CH"/>
              <a:t>Comptes et mots de passe par défaut</a:t>
            </a:r>
          </a:p>
          <a:p>
            <a:pPr lvl="1"/>
            <a:r>
              <a:rPr lang="fr-CH"/>
              <a:t>Erreurs de stack toujours affichées en production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33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54A59324-518D-83A2-37BA-EA236DC39AA3}"/>
              </a:ext>
            </a:extLst>
          </p:cNvPr>
          <p:cNvSpPr/>
          <p:nvPr/>
        </p:nvSpPr>
        <p:spPr>
          <a:xfrm>
            <a:off x="0" y="6705600"/>
            <a:ext cx="8916537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751313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3. Software </a:t>
            </a:r>
            <a:r>
              <a:rPr lang="fr-CH" dirty="0" err="1">
                <a:solidFill>
                  <a:srgbClr val="004595"/>
                </a:solidFill>
              </a:rPr>
              <a:t>Supply</a:t>
            </a:r>
            <a:r>
              <a:rPr lang="fr-CH" dirty="0">
                <a:solidFill>
                  <a:srgbClr val="004595"/>
                </a:solidFill>
              </a:rPr>
              <a:t> Chain </a:t>
            </a:r>
            <a:r>
              <a:rPr lang="fr-CH" dirty="0" err="1">
                <a:solidFill>
                  <a:srgbClr val="004595"/>
                </a:solidFill>
              </a:rPr>
              <a:t>Failures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FEA994BD-E2D6-8666-1EE9-20C826AD4252}"/>
              </a:ext>
            </a:extLst>
          </p:cNvPr>
          <p:cNvSpPr/>
          <p:nvPr/>
        </p:nvSpPr>
        <p:spPr>
          <a:xfrm>
            <a:off x="0" y="6705600"/>
            <a:ext cx="9098507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075546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 dirty="0"/>
              <a:t>Défaillance dans la chaîne d’approvisionnement logicielle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Selon OWASP </a:t>
            </a:r>
          </a:p>
          <a:p>
            <a:pPr lvl="1"/>
            <a:r>
              <a:rPr lang="fr-CH" dirty="0"/>
              <a:t>Votre application est vulnérable si vous ne connaissez pas toutes les versions de vos composants et si ils sont vulnérables ou dépassés</a:t>
            </a:r>
          </a:p>
          <a:p>
            <a:r>
              <a:rPr lang="fr-CH" dirty="0" err="1"/>
              <a:t>Webapp</a:t>
            </a:r>
            <a:r>
              <a:rPr lang="fr-CH" dirty="0"/>
              <a:t> composée de nombreuses modules et librairies open-source ou d’une tierce partie</a:t>
            </a:r>
          </a:p>
          <a:p>
            <a:r>
              <a:rPr lang="fr-CH" dirty="0"/>
              <a:t>Comme ces modules sont exécutés dans votre application, ils ont les mêmes accès que votre code. Donc un impact potentiellement très grand.</a:t>
            </a:r>
          </a:p>
          <a:p>
            <a:endParaRPr lang="fr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35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E7E5A8DC-96B1-E41C-5CA7-54A5C8401975}"/>
              </a:ext>
            </a:extLst>
          </p:cNvPr>
          <p:cNvSpPr/>
          <p:nvPr/>
        </p:nvSpPr>
        <p:spPr>
          <a:xfrm>
            <a:off x="0" y="6705600"/>
            <a:ext cx="928047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59703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 dirty="0"/>
              <a:t>Défaillance dans la chaîne d’approvisionnement logicielle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Mettre à jour des composants coûtent du temps</a:t>
            </a:r>
          </a:p>
          <a:p>
            <a:r>
              <a:rPr lang="fr-CH"/>
              <a:t>Dans les grandes entreprises, la mise à jour d’un composant doit être acceptée par plusieurs personnes / équipes / départements</a:t>
            </a:r>
          </a:p>
          <a:p>
            <a:endParaRPr lang="fr-CH"/>
          </a:p>
          <a:p>
            <a:r>
              <a:rPr lang="fr-CH"/>
              <a:t>Compromis de productivité</a:t>
            </a:r>
          </a:p>
          <a:p>
            <a:pPr lvl="1"/>
            <a:r>
              <a:rPr lang="fr-CH"/>
              <a:t>Le temps pris pour améliorer la sécurité est du temps qu’on ne pourra pas utiliser pour développer de nouveaux produits</a:t>
            </a:r>
          </a:p>
          <a:p>
            <a:pPr lvl="1"/>
            <a:r>
              <a:rPr lang="fr-CH"/>
              <a:t>Chaque entreprise doit faire un choix en gérant ses risques</a:t>
            </a:r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36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27A63997-2AEC-BBDE-78E6-9EAF13CEDC73}"/>
              </a:ext>
            </a:extLst>
          </p:cNvPr>
          <p:cNvSpPr/>
          <p:nvPr/>
        </p:nvSpPr>
        <p:spPr>
          <a:xfrm>
            <a:off x="0" y="6705600"/>
            <a:ext cx="946244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057967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Défaillance dans la chaîne d’approvisionnement logicielle</a:t>
            </a:r>
            <a:endParaRPr lang="fr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Solution</a:t>
            </a:r>
          </a:p>
          <a:p>
            <a:pPr lvl="1"/>
            <a:r>
              <a:rPr lang="fr-CH"/>
              <a:t>Connaître l’état de vos applications, modules externes, librairies</a:t>
            </a:r>
          </a:p>
          <a:p>
            <a:pPr lvl="1"/>
            <a:r>
              <a:rPr lang="fr-CH"/>
              <a:t>Connaître leur versions, vulnérable ou pas</a:t>
            </a:r>
          </a:p>
          <a:p>
            <a:pPr lvl="1"/>
            <a:r>
              <a:rPr lang="fr-CH"/>
              <a:t>Tester pro activement votre application</a:t>
            </a:r>
          </a:p>
          <a:p>
            <a:pPr lvl="1"/>
            <a:r>
              <a:rPr lang="fr-CH"/>
              <a:t>Mettre à jour continuellement vos applications et implémenter les patchs si nécessaire</a:t>
            </a:r>
          </a:p>
          <a:p>
            <a:pPr lvl="1"/>
            <a:endParaRPr lang="fr-CH"/>
          </a:p>
          <a:p>
            <a:r>
              <a:rPr lang="fr-CH"/>
              <a:t>C’est un problème d’organisation/personnes/process plus qu’un problème technique!</a:t>
            </a:r>
          </a:p>
          <a:p>
            <a:pPr marL="0" indent="0">
              <a:buNone/>
            </a:pPr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37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1EF4726A-46F3-B5E3-6111-C0A2AB32A709}"/>
              </a:ext>
            </a:extLst>
          </p:cNvPr>
          <p:cNvSpPr/>
          <p:nvPr/>
        </p:nvSpPr>
        <p:spPr>
          <a:xfrm>
            <a:off x="0" y="6705600"/>
            <a:ext cx="964441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85757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4. </a:t>
            </a:r>
            <a:r>
              <a:rPr lang="fr-CH" dirty="0" err="1">
                <a:solidFill>
                  <a:srgbClr val="004595"/>
                </a:solidFill>
              </a:rPr>
              <a:t>Cryptographic</a:t>
            </a:r>
            <a:r>
              <a:rPr lang="fr-CH" dirty="0">
                <a:solidFill>
                  <a:srgbClr val="004595"/>
                </a:solidFill>
              </a:rPr>
              <a:t> </a:t>
            </a:r>
            <a:r>
              <a:rPr lang="fr-CH" dirty="0" err="1">
                <a:solidFill>
                  <a:srgbClr val="004595"/>
                </a:solidFill>
              </a:rPr>
              <a:t>Failures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80BB98F6-44CA-E862-4F38-60E26CBD2361}"/>
              </a:ext>
            </a:extLst>
          </p:cNvPr>
          <p:cNvSpPr/>
          <p:nvPr/>
        </p:nvSpPr>
        <p:spPr>
          <a:xfrm>
            <a:off x="0" y="6705600"/>
            <a:ext cx="527713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642630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Défaillances cryptographiques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Vulnérabilité liée à l’absence ou à un mauvais chiffrement des données.</a:t>
            </a:r>
          </a:p>
          <a:p>
            <a:pPr marL="0" indent="0">
              <a:buNone/>
            </a:pPr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39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0AECD015-587C-A7A0-4445-BAEFD04C7BA8}"/>
              </a:ext>
            </a:extLst>
          </p:cNvPr>
          <p:cNvSpPr/>
          <p:nvPr/>
        </p:nvSpPr>
        <p:spPr>
          <a:xfrm>
            <a:off x="0" y="6705600"/>
            <a:ext cx="545910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98836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Défaillances cryptographiques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Est-ce que les données sensibles sont en clair dans le stockage (par exemple : mot de passe en clair dans la table </a:t>
            </a:r>
            <a:r>
              <a:rPr lang="fr-CH" err="1"/>
              <a:t>users</a:t>
            </a:r>
            <a:r>
              <a:rPr lang="fr-CH"/>
              <a:t> de la </a:t>
            </a:r>
            <a:r>
              <a:rPr lang="fr-CH" err="1"/>
              <a:t>db</a:t>
            </a:r>
            <a:r>
              <a:rPr lang="fr-CH"/>
              <a:t>) ?</a:t>
            </a:r>
          </a:p>
          <a:p>
            <a:r>
              <a:rPr lang="fr-CH"/>
              <a:t>Est-ce que les fonctions de hachages sont sûres ? (MD5 ? SHA-1 ? SHA-256 ? SHA-512 ?)</a:t>
            </a:r>
          </a:p>
          <a:p>
            <a:pPr lvl="1"/>
            <a:r>
              <a:rPr lang="fr-CH"/>
              <a:t>Risques de collision ?</a:t>
            </a:r>
          </a:p>
          <a:p>
            <a:pPr lvl="1"/>
            <a:endParaRPr lang="fr-CH"/>
          </a:p>
          <a:p>
            <a:r>
              <a:rPr lang="fr-CH"/>
              <a:t>Est-ce que l’aléatoire est vraiment aléatoire ?</a:t>
            </a:r>
          </a:p>
          <a:p>
            <a:pPr marL="0" indent="0">
              <a:buNone/>
            </a:pPr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40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EE3BAB4D-8048-2790-65C1-01226DD49660}"/>
              </a:ext>
            </a:extLst>
          </p:cNvPr>
          <p:cNvSpPr/>
          <p:nvPr/>
        </p:nvSpPr>
        <p:spPr>
          <a:xfrm>
            <a:off x="0" y="6705600"/>
            <a:ext cx="564107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646639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Défaillances cryptographiques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Est-ce que les données sensibles sont en clair dans le stockage (par exemple : mot de passe en clair dans la table </a:t>
            </a:r>
            <a:r>
              <a:rPr lang="fr-CH" err="1"/>
              <a:t>users</a:t>
            </a:r>
            <a:r>
              <a:rPr lang="fr-CH"/>
              <a:t> de la </a:t>
            </a:r>
            <a:r>
              <a:rPr lang="fr-CH" err="1"/>
              <a:t>db</a:t>
            </a:r>
            <a:r>
              <a:rPr lang="fr-CH"/>
              <a:t>) ?</a:t>
            </a:r>
          </a:p>
          <a:p>
            <a:r>
              <a:rPr lang="fr-CH"/>
              <a:t>Est-ce que les fonctions de hachages sont sûres ? (MD5 ? SHA-1 ? SHA-256 ? SHA-512 ?)</a:t>
            </a:r>
          </a:p>
          <a:p>
            <a:pPr lvl="1"/>
            <a:r>
              <a:rPr lang="fr-CH"/>
              <a:t>Risques de collision ?</a:t>
            </a:r>
          </a:p>
          <a:p>
            <a:pPr lvl="1"/>
            <a:endParaRPr lang="fr-CH"/>
          </a:p>
          <a:p>
            <a:r>
              <a:rPr lang="fr-CH"/>
              <a:t>Est-ce que l’aléatoire est vraiment aléatoire ?</a:t>
            </a:r>
          </a:p>
          <a:p>
            <a:pPr marL="0" indent="0">
              <a:buNone/>
            </a:pPr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41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31E0E21-5365-0ACC-FA9D-BDAD88435BFC}"/>
              </a:ext>
            </a:extLst>
          </p:cNvPr>
          <p:cNvSpPr/>
          <p:nvPr/>
        </p:nvSpPr>
        <p:spPr>
          <a:xfrm>
            <a:off x="0" y="6705600"/>
            <a:ext cx="582304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264876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5. Injection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18267F63-5504-4040-91E8-8E4105D7420B}"/>
              </a:ext>
            </a:extLst>
          </p:cNvPr>
          <p:cNvSpPr/>
          <p:nvPr/>
        </p:nvSpPr>
        <p:spPr>
          <a:xfrm>
            <a:off x="0" y="6705600"/>
            <a:ext cx="600501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79686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Une vulnérabilité qui permet à un attaquant de relayer du code malveillant via une application vers un autre système. </a:t>
            </a:r>
          </a:p>
          <a:p>
            <a:endParaRPr lang="fr-FR"/>
          </a:p>
          <a:p>
            <a:r>
              <a:rPr lang="fr-FR"/>
              <a:t>Cela peut inclure la compromission des systèmes </a:t>
            </a:r>
            <a:r>
              <a:rPr lang="fr-FR" err="1"/>
              <a:t>back-end</a:t>
            </a:r>
            <a:r>
              <a:rPr lang="fr-FR"/>
              <a:t> ainsi que d’autres clients connectés à l’application vulnérable. </a:t>
            </a:r>
          </a:p>
          <a:p>
            <a:endParaRPr lang="fr-FR"/>
          </a:p>
          <a:p>
            <a:r>
              <a:rPr lang="fr-FR"/>
              <a:t>Effets :</a:t>
            </a:r>
          </a:p>
          <a:p>
            <a:pPr lvl="1"/>
            <a:r>
              <a:rPr lang="fr-FR"/>
              <a:t>Permettre à un attaquant d'exécuter des appels du système d'exploitation sur une machine cible </a:t>
            </a:r>
          </a:p>
          <a:p>
            <a:pPr lvl="1"/>
            <a:r>
              <a:rPr lang="fr-FR"/>
              <a:t>Permettre à un attaquant de compromettre les bases de données </a:t>
            </a:r>
            <a:r>
              <a:rPr lang="fr-FR" err="1"/>
              <a:t>back-end</a:t>
            </a:r>
            <a:endParaRPr lang="fr-FR"/>
          </a:p>
          <a:p>
            <a:pPr lvl="1"/>
            <a:r>
              <a:rPr lang="fr-FR"/>
              <a:t>Permettre à un attaquant de compromettre ou de détourner les sessions d'autres utilisateurs </a:t>
            </a:r>
          </a:p>
          <a:p>
            <a:pPr lvl="1"/>
            <a:r>
              <a:rPr lang="fr-FR"/>
              <a:t>Permettre à un attaquant de forcer des actions au nom d'autres utilisateurs ou services</a:t>
            </a:r>
            <a:endParaRPr lang="fr-CH"/>
          </a:p>
          <a:p>
            <a:pPr lvl="1"/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43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27A53BCE-C2BB-F4B2-9C75-96C4C3503B39}"/>
              </a:ext>
            </a:extLst>
          </p:cNvPr>
          <p:cNvSpPr/>
          <p:nvPr/>
        </p:nvSpPr>
        <p:spPr>
          <a:xfrm>
            <a:off x="0" y="6705600"/>
            <a:ext cx="618698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815014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Cross-site </a:t>
            </a:r>
            <a:r>
              <a:rPr lang="fr-CH" err="1"/>
              <a:t>scripting</a:t>
            </a:r>
            <a:r>
              <a:rPr lang="fr-CH"/>
              <a:t> (XSS) :</a:t>
            </a:r>
          </a:p>
          <a:p>
            <a:pPr lvl="1"/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44</a:t>
            </a:fld>
            <a:endParaRPr lang="fr-CH"/>
          </a:p>
        </p:txBody>
      </p:sp>
      <p:pic>
        <p:nvPicPr>
          <p:cNvPr id="6" name="Graphic 5" descr="Detective male with solid fill">
            <a:extLst>
              <a:ext uri="{FF2B5EF4-FFF2-40B4-BE49-F238E27FC236}">
                <a16:creationId xmlns:a16="http://schemas.microsoft.com/office/drawing/2014/main" id="{4A7D49D5-3F7A-2ED5-9D53-D94F87AE6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4194" y="4933594"/>
            <a:ext cx="731211" cy="731211"/>
          </a:xfrm>
          <a:prstGeom prst="rect">
            <a:avLst/>
          </a:prstGeom>
        </p:spPr>
      </p:pic>
      <p:pic>
        <p:nvPicPr>
          <p:cNvPr id="8" name="Graphic 7" descr="Internet outline">
            <a:extLst>
              <a:ext uri="{FF2B5EF4-FFF2-40B4-BE49-F238E27FC236}">
                <a16:creationId xmlns:a16="http://schemas.microsoft.com/office/drawing/2014/main" id="{6A27E4A4-8A91-5FC0-40D5-A138A1884A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8123" y="2590800"/>
            <a:ext cx="914400" cy="914400"/>
          </a:xfrm>
          <a:prstGeom prst="rect">
            <a:avLst/>
          </a:prstGeom>
        </p:spPr>
      </p:pic>
      <p:pic>
        <p:nvPicPr>
          <p:cNvPr id="10" name="Graphic 9" descr="User with solid fill">
            <a:extLst>
              <a:ext uri="{FF2B5EF4-FFF2-40B4-BE49-F238E27FC236}">
                <a16:creationId xmlns:a16="http://schemas.microsoft.com/office/drawing/2014/main" id="{1E99FB9D-7F4C-A910-97A0-86D614C380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53400" y="4750405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B1E1AE-A8FC-2368-4552-6DFA08023922}"/>
              </a:ext>
            </a:extLst>
          </p:cNvPr>
          <p:cNvSpPr txBox="1"/>
          <p:nvPr/>
        </p:nvSpPr>
        <p:spPr>
          <a:xfrm>
            <a:off x="5094863" y="3320534"/>
            <a:ext cx="172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err="1">
                <a:solidFill>
                  <a:srgbClr val="00B050"/>
                </a:solidFill>
              </a:rPr>
              <a:t>Trusted</a:t>
            </a:r>
            <a:r>
              <a:rPr lang="fr-CH">
                <a:solidFill>
                  <a:srgbClr val="00B050"/>
                </a:solidFill>
              </a:rPr>
              <a:t> </a:t>
            </a:r>
            <a:r>
              <a:rPr lang="fr-CH" err="1">
                <a:solidFill>
                  <a:srgbClr val="00B050"/>
                </a:solidFill>
              </a:rPr>
              <a:t>website</a:t>
            </a:r>
            <a:r>
              <a:rPr lang="fr-CH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1741EC-EE97-8ACE-4FC9-A74FB059AB76}"/>
              </a:ext>
            </a:extLst>
          </p:cNvPr>
          <p:cNvSpPr/>
          <p:nvPr/>
        </p:nvSpPr>
        <p:spPr>
          <a:xfrm>
            <a:off x="2575405" y="3941512"/>
            <a:ext cx="808893" cy="808893"/>
          </a:xfrm>
          <a:prstGeom prst="ellipse">
            <a:avLst/>
          </a:prstGeom>
          <a:ln w="63500" cmpd="thinThick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/>
              <a:t>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5B2B20-B3F6-CE02-C5E9-B093B27780A2}"/>
              </a:ext>
            </a:extLst>
          </p:cNvPr>
          <p:cNvCxnSpPr/>
          <p:nvPr/>
        </p:nvCxnSpPr>
        <p:spPr>
          <a:xfrm flipV="1">
            <a:off x="3411415" y="3587262"/>
            <a:ext cx="1548541" cy="5861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DA183F2-B96A-A855-5C2F-4F5C5695D7D1}"/>
              </a:ext>
            </a:extLst>
          </p:cNvPr>
          <p:cNvSpPr txBox="1"/>
          <p:nvPr/>
        </p:nvSpPr>
        <p:spPr>
          <a:xfrm>
            <a:off x="3581400" y="4176495"/>
            <a:ext cx="3013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>
                <a:solidFill>
                  <a:schemeClr val="bg2"/>
                </a:solidFill>
              </a:rPr>
              <a:t>L’attaquant injecte dans le site</a:t>
            </a:r>
          </a:p>
          <a:p>
            <a:r>
              <a:rPr lang="fr-CH">
                <a:solidFill>
                  <a:schemeClr val="bg2"/>
                </a:solidFill>
              </a:rPr>
              <a:t>un script malicieux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92FF5D-3BB0-1FD5-D261-7868878BE61B}"/>
              </a:ext>
            </a:extLst>
          </p:cNvPr>
          <p:cNvSpPr/>
          <p:nvPr/>
        </p:nvSpPr>
        <p:spPr>
          <a:xfrm>
            <a:off x="7809759" y="3941511"/>
            <a:ext cx="808893" cy="808893"/>
          </a:xfrm>
          <a:prstGeom prst="ellipse">
            <a:avLst/>
          </a:prstGeom>
          <a:ln w="63500" cmpd="thinThick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/>
              <a:t>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664382-CED1-89A6-6D90-5435CCD66565}"/>
              </a:ext>
            </a:extLst>
          </p:cNvPr>
          <p:cNvCxnSpPr>
            <a:cxnSpLocks/>
          </p:cNvCxnSpPr>
          <p:nvPr/>
        </p:nvCxnSpPr>
        <p:spPr>
          <a:xfrm flipH="1" flipV="1">
            <a:off x="6815783" y="3648434"/>
            <a:ext cx="1028598" cy="36671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49FD00B-A733-E795-8024-B0E3F0D40938}"/>
              </a:ext>
            </a:extLst>
          </p:cNvPr>
          <p:cNvSpPr txBox="1"/>
          <p:nvPr/>
        </p:nvSpPr>
        <p:spPr>
          <a:xfrm>
            <a:off x="7164915" y="3037890"/>
            <a:ext cx="3536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>
                <a:solidFill>
                  <a:schemeClr val="bg2"/>
                </a:solidFill>
              </a:rPr>
              <a:t>La victime visite le site et déclenche</a:t>
            </a:r>
          </a:p>
          <a:p>
            <a:r>
              <a:rPr lang="fr-CH">
                <a:solidFill>
                  <a:schemeClr val="bg2"/>
                </a:solidFill>
              </a:rPr>
              <a:t>le script.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A78C07E-AAA5-6A2A-4BCB-B6C6F84C2FA4}"/>
              </a:ext>
            </a:extLst>
          </p:cNvPr>
          <p:cNvSpPr/>
          <p:nvPr/>
        </p:nvSpPr>
        <p:spPr>
          <a:xfrm>
            <a:off x="7043539" y="4988889"/>
            <a:ext cx="808893" cy="808893"/>
          </a:xfrm>
          <a:prstGeom prst="ellipse">
            <a:avLst/>
          </a:prstGeom>
          <a:ln w="63500" cmpd="thinThick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/>
              <a:t>3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4638AB-1485-DA8B-AF93-B1AC417567FE}"/>
              </a:ext>
            </a:extLst>
          </p:cNvPr>
          <p:cNvCxnSpPr>
            <a:cxnSpLocks/>
          </p:cNvCxnSpPr>
          <p:nvPr/>
        </p:nvCxnSpPr>
        <p:spPr>
          <a:xfrm flipH="1" flipV="1">
            <a:off x="3384298" y="4750055"/>
            <a:ext cx="3562026" cy="63277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71E6123-B3B1-7AE2-4C95-E9319BE3F77D}"/>
              </a:ext>
            </a:extLst>
          </p:cNvPr>
          <p:cNvSpPr txBox="1"/>
          <p:nvPr/>
        </p:nvSpPr>
        <p:spPr>
          <a:xfrm>
            <a:off x="3411415" y="5397159"/>
            <a:ext cx="38427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>
                <a:solidFill>
                  <a:schemeClr val="bg2"/>
                </a:solidFill>
              </a:rPr>
              <a:t>Le navigateur de la victime envoie</a:t>
            </a:r>
          </a:p>
          <a:p>
            <a:r>
              <a:rPr lang="fr-CH">
                <a:solidFill>
                  <a:schemeClr val="bg2"/>
                </a:solidFill>
              </a:rPr>
              <a:t>des informations (</a:t>
            </a:r>
            <a:r>
              <a:rPr lang="fr-CH" err="1">
                <a:solidFill>
                  <a:schemeClr val="bg2"/>
                </a:solidFill>
              </a:rPr>
              <a:t>tokens</a:t>
            </a:r>
            <a:r>
              <a:rPr lang="fr-CH">
                <a:solidFill>
                  <a:schemeClr val="bg2"/>
                </a:solidFill>
              </a:rPr>
              <a:t>, cookies, etc.)</a:t>
            </a:r>
          </a:p>
          <a:p>
            <a:r>
              <a:rPr lang="fr-CH">
                <a:solidFill>
                  <a:schemeClr val="bg2"/>
                </a:solidFill>
              </a:rPr>
              <a:t>à l’attaquant.</a:t>
            </a:r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285B7382-0247-A14F-87F9-E0745475F7E1}"/>
              </a:ext>
            </a:extLst>
          </p:cNvPr>
          <p:cNvSpPr/>
          <p:nvPr/>
        </p:nvSpPr>
        <p:spPr>
          <a:xfrm>
            <a:off x="0" y="6705600"/>
            <a:ext cx="636895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757536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Injection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Injection SQL :</a:t>
            </a:r>
          </a:p>
          <a:p>
            <a:pPr lvl="1"/>
            <a:r>
              <a:rPr lang="fr-CH" dirty="0"/>
              <a:t>Supposons le code suivant :</a:t>
            </a:r>
          </a:p>
          <a:p>
            <a:pPr lvl="1"/>
            <a:endParaRPr lang="fr-CH" dirty="0"/>
          </a:p>
          <a:p>
            <a:pPr lvl="2"/>
            <a:r>
              <a:rPr lang="fr-CH" dirty="0"/>
              <a:t>SELECT ALL FROM </a:t>
            </a:r>
            <a:r>
              <a:rPr lang="fr-CH" dirty="0" err="1"/>
              <a:t>t_users</a:t>
            </a:r>
            <a:r>
              <a:rPr lang="fr-CH" dirty="0"/>
              <a:t> WHERE </a:t>
            </a:r>
            <a:r>
              <a:rPr lang="fr-CH" dirty="0" err="1"/>
              <a:t>idUser</a:t>
            </a:r>
            <a:r>
              <a:rPr lang="fr-CH" dirty="0"/>
              <a:t> = «Valeur du formulaire»</a:t>
            </a:r>
          </a:p>
          <a:p>
            <a:pPr lvl="2"/>
            <a:endParaRPr lang="fr-CH" dirty="0"/>
          </a:p>
          <a:p>
            <a:pPr lvl="2"/>
            <a:endParaRPr lang="fr-CH" dirty="0"/>
          </a:p>
          <a:p>
            <a:pPr lvl="1"/>
            <a:r>
              <a:rPr lang="fr-CH" dirty="0"/>
              <a:t>Quel problème peut survenir ?</a:t>
            </a:r>
          </a:p>
          <a:p>
            <a:pPr lvl="1"/>
            <a:endParaRPr lang="fr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45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EB5F0D70-D289-0416-3AC0-471171D8BB64}"/>
              </a:ext>
            </a:extLst>
          </p:cNvPr>
          <p:cNvSpPr/>
          <p:nvPr/>
        </p:nvSpPr>
        <p:spPr>
          <a:xfrm>
            <a:off x="0" y="6705600"/>
            <a:ext cx="655092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760467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«Valeur du formulaire» pourrait être :</a:t>
            </a:r>
          </a:p>
          <a:p>
            <a:r>
              <a:rPr lang="fr-CH"/>
              <a:t>‘’ OR 1 = 1</a:t>
            </a:r>
          </a:p>
          <a:p>
            <a:pPr lvl="1"/>
            <a:r>
              <a:rPr lang="fr-CH"/>
              <a:t>Le code suivant serait exécuté :</a:t>
            </a:r>
          </a:p>
          <a:p>
            <a:pPr lvl="1"/>
            <a:endParaRPr lang="fr-CH"/>
          </a:p>
          <a:p>
            <a:pPr lvl="2"/>
            <a:r>
              <a:rPr lang="fr-CH"/>
              <a:t>SELECT ALL FROM </a:t>
            </a:r>
            <a:r>
              <a:rPr lang="fr-CH" err="1"/>
              <a:t>t_users</a:t>
            </a:r>
            <a:r>
              <a:rPr lang="fr-CH"/>
              <a:t> WHERE </a:t>
            </a:r>
            <a:r>
              <a:rPr lang="fr-CH" err="1"/>
              <a:t>idUser</a:t>
            </a:r>
            <a:r>
              <a:rPr lang="fr-CH"/>
              <a:t> = ‘’ OR 1 = 1</a:t>
            </a:r>
          </a:p>
          <a:p>
            <a:pPr lvl="2"/>
            <a:endParaRPr lang="fr-CH"/>
          </a:p>
          <a:p>
            <a:pPr lvl="1"/>
            <a:r>
              <a:rPr lang="fr-CH"/>
              <a:t>Que retournerait la commande ?</a:t>
            </a:r>
          </a:p>
          <a:p>
            <a:pPr lvl="1"/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46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3110834B-5710-1F07-9DF9-66A7395E33B3}"/>
              </a:ext>
            </a:extLst>
          </p:cNvPr>
          <p:cNvSpPr/>
          <p:nvPr/>
        </p:nvSpPr>
        <p:spPr>
          <a:xfrm>
            <a:off x="0" y="6705600"/>
            <a:ext cx="6732895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12541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«Valeur du formulaire» pourrait être :</a:t>
            </a:r>
          </a:p>
          <a:p>
            <a:r>
              <a:rPr lang="fr-CH"/>
              <a:t> ‘’ ; DROP DATABASE …; --</a:t>
            </a:r>
          </a:p>
          <a:p>
            <a:pPr lvl="1"/>
            <a:r>
              <a:rPr lang="fr-CH"/>
              <a:t>Le code suivant serait exécuté :</a:t>
            </a:r>
          </a:p>
          <a:p>
            <a:pPr lvl="1"/>
            <a:endParaRPr lang="fr-CH"/>
          </a:p>
          <a:p>
            <a:pPr lvl="2"/>
            <a:r>
              <a:rPr lang="fr-CH"/>
              <a:t>SELECT ALL FROM </a:t>
            </a:r>
            <a:r>
              <a:rPr lang="fr-CH" err="1"/>
              <a:t>t_users</a:t>
            </a:r>
            <a:r>
              <a:rPr lang="fr-CH"/>
              <a:t> WHERE </a:t>
            </a:r>
            <a:r>
              <a:rPr lang="fr-CH" err="1"/>
              <a:t>idUser</a:t>
            </a:r>
            <a:r>
              <a:rPr lang="fr-CH"/>
              <a:t> = ‘’ ; DROP DATABASE …; --</a:t>
            </a:r>
          </a:p>
          <a:p>
            <a:pPr lvl="2"/>
            <a:endParaRPr lang="fr-CH"/>
          </a:p>
          <a:p>
            <a:pPr lvl="1"/>
            <a:r>
              <a:rPr lang="fr-CH"/>
              <a:t>Que retournerait la commande ?</a:t>
            </a:r>
          </a:p>
          <a:p>
            <a:pPr lvl="1"/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47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1D400EC2-F71D-4733-77E0-DEE7BB062894}"/>
              </a:ext>
            </a:extLst>
          </p:cNvPr>
          <p:cNvSpPr/>
          <p:nvPr/>
        </p:nvSpPr>
        <p:spPr>
          <a:xfrm>
            <a:off x="0" y="6705600"/>
            <a:ext cx="691486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915505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Injection : se prémunir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Valider les entrées de formulaire</a:t>
            </a:r>
          </a:p>
          <a:p>
            <a:r>
              <a:rPr lang="fr-CH"/>
              <a:t>Appliquer le principe de moindres privilèges</a:t>
            </a:r>
          </a:p>
          <a:p>
            <a:r>
              <a:rPr lang="fr-CH"/>
              <a:t>Eviter de passer par des services externes</a:t>
            </a:r>
          </a:p>
          <a:p>
            <a:r>
              <a:rPr lang="fr-CH"/>
              <a:t>Tester les retours de fonctions</a:t>
            </a:r>
          </a:p>
          <a:p>
            <a:r>
              <a:rPr lang="fr-CH"/>
              <a:t>Vérifier les exceptions</a:t>
            </a:r>
          </a:p>
          <a:p>
            <a:pPr lvl="1"/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48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E3234006-B7DE-C7C9-617A-FCA52208BBD8}"/>
              </a:ext>
            </a:extLst>
          </p:cNvPr>
          <p:cNvSpPr/>
          <p:nvPr/>
        </p:nvSpPr>
        <p:spPr>
          <a:xfrm>
            <a:off x="0" y="6705600"/>
            <a:ext cx="709683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35455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6. </a:t>
            </a:r>
            <a:r>
              <a:rPr lang="fr-CH" dirty="0" err="1">
                <a:solidFill>
                  <a:srgbClr val="004595"/>
                </a:solidFill>
              </a:rPr>
              <a:t>Insecure</a:t>
            </a:r>
            <a:r>
              <a:rPr lang="fr-CH" dirty="0">
                <a:solidFill>
                  <a:srgbClr val="004595"/>
                </a:solidFill>
              </a:rPr>
              <a:t> Design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D9560A59-6801-6448-28F1-5AF540BEF7FB}"/>
              </a:ext>
            </a:extLst>
          </p:cNvPr>
          <p:cNvSpPr/>
          <p:nvPr/>
        </p:nvSpPr>
        <p:spPr>
          <a:xfrm>
            <a:off x="0" y="6705600"/>
            <a:ext cx="727880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603975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Conception non-sécurisée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H"/>
              <a:t>Vulnérabilité liée à la non-prise en considération des principes de sécurité dès les premières étapes du processus de conception de l'application.</a:t>
            </a:r>
          </a:p>
          <a:p>
            <a:pPr marL="0" indent="0">
              <a:buNone/>
            </a:pPr>
            <a:endParaRPr lang="fr-CH"/>
          </a:p>
          <a:p>
            <a:r>
              <a:rPr lang="fr-CH"/>
              <a:t>Analogie avec la vie de tous les jours :</a:t>
            </a:r>
          </a:p>
          <a:p>
            <a:pPr lvl="1"/>
            <a:r>
              <a:rPr lang="fr-CH"/>
              <a:t>Un constructeur automobile n’a pas pris en compte le fait que la ceinture de sécurité devait résister à un choc de plus de 1000N</a:t>
            </a:r>
          </a:p>
          <a:p>
            <a:pPr lvl="1"/>
            <a:endParaRPr lang="fr-CH"/>
          </a:p>
          <a:p>
            <a:pPr lvl="1"/>
            <a:r>
              <a:rPr lang="fr-CH"/>
              <a:t>En cas de choc, même si l’automobiliste a parfaitement bouclé sa ceinture, la sécurité est compromise.</a:t>
            </a:r>
          </a:p>
          <a:p>
            <a:pPr lvl="1"/>
            <a:endParaRPr lang="fr-CH"/>
          </a:p>
          <a:p>
            <a:pPr lvl="1"/>
            <a:r>
              <a:rPr lang="fr-CH"/>
              <a:t>On distingue ici l’implémentation de la conception.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50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CD9FBD2A-2062-4F7B-19F2-26FBE3DAE190}"/>
              </a:ext>
            </a:extLst>
          </p:cNvPr>
          <p:cNvSpPr/>
          <p:nvPr/>
        </p:nvSpPr>
        <p:spPr>
          <a:xfrm>
            <a:off x="0" y="6705600"/>
            <a:ext cx="746077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284281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Conception non-sécurisée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Catégorie assez vaste</a:t>
            </a:r>
          </a:p>
          <a:p>
            <a:r>
              <a:rPr lang="fr-CH"/>
              <a:t>Englobe les défauts architecturaux de votre application</a:t>
            </a:r>
          </a:p>
          <a:p>
            <a:r>
              <a:rPr lang="fr-CH"/>
              <a:t>Historiquement :</a:t>
            </a:r>
          </a:p>
          <a:p>
            <a:pPr lvl="1"/>
            <a:r>
              <a:rPr lang="fr-CH"/>
              <a:t>On planifie </a:t>
            </a:r>
            <a:r>
              <a:rPr lang="fr-CH">
                <a:sym typeface="Wingdings" panose="05000000000000000000" pitchFamily="2" charset="2"/>
              </a:rPr>
              <a:t> </a:t>
            </a:r>
            <a:r>
              <a:rPr lang="fr-CH"/>
              <a:t>On développe </a:t>
            </a:r>
            <a:r>
              <a:rPr lang="fr-CH">
                <a:sym typeface="Wingdings" panose="05000000000000000000" pitchFamily="2" charset="2"/>
              </a:rPr>
              <a:t> On teste  On livre  </a:t>
            </a:r>
            <a:r>
              <a:rPr lang="fr-CH">
                <a:solidFill>
                  <a:srgbClr val="FF0000"/>
                </a:solidFill>
                <a:sym typeface="Wingdings" panose="05000000000000000000" pitchFamily="2" charset="2"/>
              </a:rPr>
              <a:t>On corrige la sécurité</a:t>
            </a:r>
          </a:p>
          <a:p>
            <a:pPr lvl="1"/>
            <a:endParaRPr lang="fr-CH">
              <a:sym typeface="Wingdings" panose="05000000000000000000" pitchFamily="2" charset="2"/>
            </a:endParaRPr>
          </a:p>
          <a:p>
            <a:r>
              <a:rPr lang="fr-CH">
                <a:sym typeface="Wingdings" panose="05000000000000000000" pitchFamily="2" charset="2"/>
              </a:rPr>
              <a:t>Shift </a:t>
            </a:r>
            <a:r>
              <a:rPr lang="fr-CH" err="1">
                <a:sym typeface="Wingdings" panose="05000000000000000000" pitchFamily="2" charset="2"/>
              </a:rPr>
              <a:t>left</a:t>
            </a:r>
            <a:r>
              <a:rPr lang="fr-CH">
                <a:sym typeface="Wingdings" panose="05000000000000000000" pitchFamily="2" charset="2"/>
              </a:rPr>
              <a:t> :</a:t>
            </a:r>
          </a:p>
          <a:p>
            <a:pPr lvl="1"/>
            <a:r>
              <a:rPr lang="fr-CH"/>
              <a:t>On planifie </a:t>
            </a:r>
            <a:r>
              <a:rPr lang="fr-CH">
                <a:sym typeface="Wingdings" panose="05000000000000000000" pitchFamily="2" charset="2"/>
              </a:rPr>
              <a:t> </a:t>
            </a:r>
            <a:r>
              <a:rPr lang="fr-CH">
                <a:solidFill>
                  <a:srgbClr val="00B050"/>
                </a:solidFill>
                <a:sym typeface="Wingdings" panose="05000000000000000000" pitchFamily="2" charset="2"/>
              </a:rPr>
              <a:t>On prévoit la sécurité</a:t>
            </a:r>
            <a:r>
              <a:rPr lang="fr-CH">
                <a:sym typeface="Wingdings" panose="05000000000000000000" pitchFamily="2" charset="2"/>
              </a:rPr>
              <a:t> </a:t>
            </a:r>
            <a:r>
              <a:rPr lang="fr-CH"/>
              <a:t>On développe </a:t>
            </a:r>
            <a:r>
              <a:rPr lang="fr-CH">
                <a:sym typeface="Wingdings" panose="05000000000000000000" pitchFamily="2" charset="2"/>
              </a:rPr>
              <a:t> On teste  On livre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51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B02C187A-AC9C-44AF-B2DD-1D5246A19623}"/>
              </a:ext>
            </a:extLst>
          </p:cNvPr>
          <p:cNvSpPr/>
          <p:nvPr/>
        </p:nvSpPr>
        <p:spPr>
          <a:xfrm>
            <a:off x="0" y="6705600"/>
            <a:ext cx="764274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422180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Conception non-sécurisée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Quel est le risque de sécurité avec les «Questions secrètes» qui permettent de récupérer un compte ?</a:t>
            </a:r>
          </a:p>
          <a:p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52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E00098FB-060E-9DA0-DCC7-0D8E7B1E7880}"/>
              </a:ext>
            </a:extLst>
          </p:cNvPr>
          <p:cNvSpPr/>
          <p:nvPr/>
        </p:nvSpPr>
        <p:spPr>
          <a:xfrm>
            <a:off x="0" y="6705600"/>
            <a:ext cx="782471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7030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Conception non-sécurisée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Questions secrètes :</a:t>
            </a:r>
          </a:p>
          <a:p>
            <a:endParaRPr lang="fr-CH"/>
          </a:p>
          <a:p>
            <a:r>
              <a:rPr lang="fr-CH"/>
              <a:t>Les questions et les réponses ne peuvent pas être considérées comme une preuve d'identité, car plus d'une personne peut connaître les réponses. </a:t>
            </a:r>
          </a:p>
          <a:p>
            <a:r>
              <a:rPr lang="fr-CH"/>
              <a:t>Un tel code doit être supprimé et remplacé par une conception plus sécurisée.</a:t>
            </a:r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53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BBC28BE5-46F6-E3FC-4F92-64D5620624DD}"/>
              </a:ext>
            </a:extLst>
          </p:cNvPr>
          <p:cNvSpPr/>
          <p:nvPr/>
        </p:nvSpPr>
        <p:spPr>
          <a:xfrm>
            <a:off x="0" y="6705600"/>
            <a:ext cx="8006686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835903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Conception non-sécurisée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Que se passerait-il si vous faîtes une application web pour une chaîne de restaurants sans prendre en compte la vraisemblance des réservations ?</a:t>
            </a:r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54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770C961C-B8D4-74B3-DC8B-22DEA60FE9A1}"/>
              </a:ext>
            </a:extLst>
          </p:cNvPr>
          <p:cNvSpPr/>
          <p:nvPr/>
        </p:nvSpPr>
        <p:spPr>
          <a:xfrm>
            <a:off x="0" y="6705600"/>
            <a:ext cx="8188657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451192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Conception non-sécurisée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Les attaquants pourraient modéliser ce cas d’utilisation (use case) et tester s'ils peuvent réserver six cents places et tous les restaurants à la fois en quelques demandes, provoquant une perte massive de revenus et/ou un chaos dans les réservations.</a:t>
            </a:r>
          </a:p>
          <a:p>
            <a:endParaRPr lang="fr-CH"/>
          </a:p>
          <a:p>
            <a:r>
              <a:rPr lang="fr-CH"/>
              <a:t>Un dégât d’image aurait aussi lieu.</a:t>
            </a:r>
          </a:p>
          <a:p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55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C50E9B69-6D96-F056-0807-C2501F1D9047}"/>
              </a:ext>
            </a:extLst>
          </p:cNvPr>
          <p:cNvSpPr/>
          <p:nvPr/>
        </p:nvSpPr>
        <p:spPr>
          <a:xfrm>
            <a:off x="0" y="6705600"/>
            <a:ext cx="8370627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675602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Conception non-sécurisée : se prémunir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Implémenter la sécurité dès le début du développement (shift </a:t>
            </a:r>
            <a:r>
              <a:rPr lang="fr-CH" err="1"/>
              <a:t>left</a:t>
            </a:r>
            <a:r>
              <a:rPr lang="fr-CH"/>
              <a:t>)</a:t>
            </a:r>
          </a:p>
          <a:p>
            <a:r>
              <a:rPr lang="fr-CH"/>
              <a:t>Modéliser les menaces</a:t>
            </a:r>
          </a:p>
          <a:p>
            <a:r>
              <a:rPr lang="fr-CH"/>
              <a:t>Intégrer les contrôles de sécurité dans les User Stories</a:t>
            </a:r>
          </a:p>
          <a:p>
            <a:r>
              <a:rPr lang="fr-CH"/>
              <a:t>Restreindre les ressources par service ou utilisateur</a:t>
            </a:r>
          </a:p>
          <a:p>
            <a:r>
              <a:rPr lang="fr-CH"/>
              <a:t>Intégrer des contrôles de vraisemblance</a:t>
            </a:r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56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76BEA20E-1FDD-158C-F8AF-A46D824285E0}"/>
              </a:ext>
            </a:extLst>
          </p:cNvPr>
          <p:cNvSpPr/>
          <p:nvPr/>
        </p:nvSpPr>
        <p:spPr>
          <a:xfrm>
            <a:off x="0" y="6705600"/>
            <a:ext cx="8552597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988435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7. </a:t>
            </a:r>
            <a:r>
              <a:rPr lang="fr-CH" dirty="0" err="1">
                <a:solidFill>
                  <a:srgbClr val="004595"/>
                </a:solidFill>
              </a:rPr>
              <a:t>Authentication</a:t>
            </a:r>
            <a:r>
              <a:rPr lang="fr-CH" dirty="0">
                <a:solidFill>
                  <a:srgbClr val="004595"/>
                </a:solidFill>
              </a:rPr>
              <a:t> </a:t>
            </a:r>
            <a:r>
              <a:rPr lang="fr-CH" dirty="0" err="1">
                <a:solidFill>
                  <a:srgbClr val="004595"/>
                </a:solidFill>
              </a:rPr>
              <a:t>Failures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8C828E3A-273B-A5A7-3C05-A7B19860C657}"/>
              </a:ext>
            </a:extLst>
          </p:cNvPr>
          <p:cNvSpPr/>
          <p:nvPr/>
        </p:nvSpPr>
        <p:spPr>
          <a:xfrm>
            <a:off x="0" y="6705600"/>
            <a:ext cx="982638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258660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 dirty="0"/>
              <a:t>Echec d’identification ou d’authentification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Selon OWASP</a:t>
            </a:r>
          </a:p>
          <a:p>
            <a:pPr lvl="1"/>
            <a:r>
              <a:rPr lang="fr-CH"/>
              <a:t>Confirmer l’identité, ses autorisations et la gestion de sa session est un processus critique pour se protéger des attaques liées à ce domaine.</a:t>
            </a:r>
          </a:p>
          <a:p>
            <a:r>
              <a:rPr lang="fr-CH"/>
              <a:t>Une webapp </a:t>
            </a:r>
            <a:r>
              <a:rPr lang="fr-CH" b="1" u="sng"/>
              <a:t>doit</a:t>
            </a:r>
            <a:r>
              <a:rPr lang="fr-CH"/>
              <a:t> confirmer qui vous êtes et qui vous prétendez être</a:t>
            </a:r>
          </a:p>
          <a:p>
            <a:r>
              <a:rPr lang="fr-CH"/>
              <a:t>Problèmes</a:t>
            </a:r>
          </a:p>
          <a:p>
            <a:pPr lvl="1"/>
            <a:r>
              <a:rPr lang="fr-CH"/>
              <a:t>Une webapp demande une identification mais ne vérifie pas que l’identité est correcte</a:t>
            </a:r>
          </a:p>
          <a:p>
            <a:pPr lvl="1"/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58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E1AE0DF5-5E82-62E7-B6B3-4C57DB6BAF04}"/>
              </a:ext>
            </a:extLst>
          </p:cNvPr>
          <p:cNvSpPr/>
          <p:nvPr/>
        </p:nvSpPr>
        <p:spPr>
          <a:xfrm>
            <a:off x="0" y="6705600"/>
            <a:ext cx="1000835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510381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Echec d’identification ou d’authentification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CH"/>
              <a:t>Problème 1</a:t>
            </a:r>
          </a:p>
          <a:p>
            <a:pPr lvl="1"/>
            <a:r>
              <a:rPr lang="fr-CH"/>
              <a:t>Une webapp demande une identification mais ne vérifie pas que l’identité est correcte</a:t>
            </a:r>
          </a:p>
          <a:p>
            <a:pPr lvl="1"/>
            <a:r>
              <a:rPr lang="fr-CH"/>
              <a:t>Analogie de la personne qui prétend être pilote</a:t>
            </a:r>
          </a:p>
          <a:p>
            <a:pPr lvl="1"/>
            <a:r>
              <a:rPr lang="fr-CH"/>
              <a:t>Exemple du code SMS renvoyé mais qui n’est pas contrôlé par l’application</a:t>
            </a:r>
          </a:p>
          <a:p>
            <a:endParaRPr lang="fr-CH"/>
          </a:p>
          <a:p>
            <a:r>
              <a:rPr lang="fr-CH"/>
              <a:t>Problème 2</a:t>
            </a:r>
          </a:p>
          <a:p>
            <a:pPr lvl="1"/>
            <a:r>
              <a:rPr lang="fr-CH"/>
              <a:t>Une webapp communique avec un serveur et demande un certificat, mais ne vérifie pas que le certificat vient bien du serveur</a:t>
            </a:r>
          </a:p>
          <a:p>
            <a:pPr lvl="1"/>
            <a:r>
              <a:rPr lang="fr-CH"/>
              <a:t>On peut vous envoyer vers un autre site web frauduleux (XSS)</a:t>
            </a:r>
          </a:p>
          <a:p>
            <a:pPr lvl="1"/>
            <a:endParaRPr lang="fr-CH"/>
          </a:p>
          <a:p>
            <a:r>
              <a:rPr lang="fr-CH"/>
              <a:t>Problème 3</a:t>
            </a:r>
          </a:p>
          <a:p>
            <a:pPr lvl="1"/>
            <a:r>
              <a:rPr lang="fr-CH"/>
              <a:t>Une webapp ouvre une nouvelle session mais ne ferme pas correctement la précédente</a:t>
            </a:r>
          </a:p>
          <a:p>
            <a:pPr lvl="1"/>
            <a:r>
              <a:rPr lang="fr-CH"/>
              <a:t>Analogie de la pompe à essence</a:t>
            </a:r>
          </a:p>
          <a:p>
            <a:pPr lvl="1"/>
            <a:r>
              <a:rPr lang="fr-CH"/>
              <a:t>Log in sur un ordinateur public et vous oubliez de vous déconnecter</a:t>
            </a:r>
          </a:p>
          <a:p>
            <a:pPr lvl="1"/>
            <a:endParaRPr lang="fr-CH"/>
          </a:p>
          <a:p>
            <a:pPr lvl="1"/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59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E1AE0DF5-5E82-62E7-B6B3-4C57DB6BAF04}"/>
              </a:ext>
            </a:extLst>
          </p:cNvPr>
          <p:cNvSpPr/>
          <p:nvPr/>
        </p:nvSpPr>
        <p:spPr>
          <a:xfrm>
            <a:off x="0" y="6705600"/>
            <a:ext cx="1000835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263809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Echec d’identification ou d’authentification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Solutions</a:t>
            </a:r>
          </a:p>
          <a:p>
            <a:pPr lvl="1"/>
            <a:r>
              <a:rPr lang="fr-CH"/>
              <a:t>Une webapp doit identifier et authentifier proprement les utilisateurs</a:t>
            </a:r>
          </a:p>
          <a:p>
            <a:pPr lvl="1"/>
            <a:r>
              <a:rPr lang="fr-CH"/>
              <a:t>Semble simple mais peut être très compliqué</a:t>
            </a:r>
          </a:p>
          <a:p>
            <a:endParaRPr lang="fr-CH"/>
          </a:p>
          <a:p>
            <a:r>
              <a:rPr lang="fr-CH"/>
              <a:t>Exemples complexes</a:t>
            </a:r>
          </a:p>
          <a:p>
            <a:pPr lvl="1"/>
            <a:r>
              <a:rPr lang="fr-CH"/>
              <a:t>Gestion des SSO</a:t>
            </a:r>
          </a:p>
          <a:p>
            <a:pPr lvl="2"/>
            <a:r>
              <a:rPr lang="fr-CH"/>
              <a:t>Compte Office / </a:t>
            </a:r>
            <a:r>
              <a:rPr lang="fr-CH" err="1"/>
              <a:t>Eduvaud</a:t>
            </a:r>
            <a:r>
              <a:rPr lang="fr-CH"/>
              <a:t> ?</a:t>
            </a:r>
          </a:p>
          <a:p>
            <a:pPr lvl="2"/>
            <a:r>
              <a:rPr lang="fr-CH"/>
              <a:t>Compte Gmail</a:t>
            </a:r>
          </a:p>
          <a:p>
            <a:pPr lvl="1"/>
            <a:endParaRPr lang="fr-CH"/>
          </a:p>
          <a:p>
            <a:pPr lvl="1"/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60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E1AE0DF5-5E82-62E7-B6B3-4C57DB6BAF04}"/>
              </a:ext>
            </a:extLst>
          </p:cNvPr>
          <p:cNvSpPr/>
          <p:nvPr/>
        </p:nvSpPr>
        <p:spPr>
          <a:xfrm>
            <a:off x="0" y="6705600"/>
            <a:ext cx="1000835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094882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8. </a:t>
            </a:r>
            <a:r>
              <a:rPr lang="en-US">
                <a:solidFill>
                  <a:srgbClr val="004595"/>
                </a:solidFill>
              </a:rPr>
              <a:t>Software and Data Integrity Failures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F5717AB6-3FFD-F1BC-B627-06F72AAB1E49}"/>
              </a:ext>
            </a:extLst>
          </p:cNvPr>
          <p:cNvSpPr/>
          <p:nvPr/>
        </p:nvSpPr>
        <p:spPr>
          <a:xfrm>
            <a:off x="0" y="6705600"/>
            <a:ext cx="1019032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279914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Défaillance des logiciels et de l’intégrité de leurs données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Selon OWASP,</a:t>
            </a:r>
          </a:p>
          <a:p>
            <a:pPr lvl="1"/>
            <a:r>
              <a:rPr lang="fr-CH"/>
              <a:t>CI/CD non sécurisé : automatisation des processus sans processus de vérification suffisant</a:t>
            </a:r>
          </a:p>
          <a:p>
            <a:pPr lvl="1"/>
            <a:r>
              <a:rPr lang="fr-CH"/>
              <a:t>Mise à jour/téléchargement de composant automatique</a:t>
            </a:r>
          </a:p>
          <a:p>
            <a:pPr lvl="1"/>
            <a:endParaRPr lang="fr-CH"/>
          </a:p>
          <a:p>
            <a:r>
              <a:rPr lang="fr-CH"/>
              <a:t>Lié au 6</a:t>
            </a:r>
            <a:r>
              <a:rPr lang="fr-CH" baseline="30000"/>
              <a:t>e</a:t>
            </a:r>
            <a:r>
              <a:rPr lang="fr-CH"/>
              <a:t> point! Mais différencié pour souligner et mettre en avant les risques liés aux cycles rapides de développement </a:t>
            </a:r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62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1BC3EFC4-90C2-2DFD-8228-4802197D3EB4}"/>
              </a:ext>
            </a:extLst>
          </p:cNvPr>
          <p:cNvSpPr/>
          <p:nvPr/>
        </p:nvSpPr>
        <p:spPr>
          <a:xfrm>
            <a:off x="0" y="6705600"/>
            <a:ext cx="1037229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256061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Défaillance des logiciels et de l’intégrité de leurs données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Analogie de la fabrication de chocolat</a:t>
            </a:r>
          </a:p>
          <a:p>
            <a:pPr lvl="1"/>
            <a:r>
              <a:rPr lang="fr-CH"/>
              <a:t>Si les ingrédients sont bons, le chocolat est bon</a:t>
            </a:r>
          </a:p>
          <a:p>
            <a:pPr lvl="1"/>
            <a:r>
              <a:rPr lang="fr-CH"/>
              <a:t>Mais si les ingrédients sont mauvais?</a:t>
            </a:r>
          </a:p>
          <a:p>
            <a:pPr lvl="1"/>
            <a:endParaRPr lang="fr-CH"/>
          </a:p>
          <a:p>
            <a:r>
              <a:rPr lang="fr-CH"/>
              <a:t>Dans une webapp, quels sont les ingrédients?</a:t>
            </a:r>
          </a:p>
          <a:p>
            <a:endParaRPr lang="fr-CH"/>
          </a:p>
          <a:p>
            <a:r>
              <a:rPr lang="fr-CH"/>
              <a:t>Autre problème</a:t>
            </a:r>
          </a:p>
          <a:p>
            <a:pPr lvl="1"/>
            <a:r>
              <a:rPr lang="fr-CH"/>
              <a:t>Si une mise à jour d’un logiciel externe est buggée?</a:t>
            </a:r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63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1BC3EFC4-90C2-2DFD-8228-4802197D3EB4}"/>
              </a:ext>
            </a:extLst>
          </p:cNvPr>
          <p:cNvSpPr/>
          <p:nvPr/>
        </p:nvSpPr>
        <p:spPr>
          <a:xfrm>
            <a:off x="0" y="6705600"/>
            <a:ext cx="1037229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637614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Défaillance des logiciels et de l’intégrité de leurs données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CH"/>
          </a:p>
          <a:p>
            <a:r>
              <a:rPr lang="fr-CH"/>
              <a:t>Solutions</a:t>
            </a:r>
          </a:p>
          <a:p>
            <a:pPr lvl="1"/>
            <a:r>
              <a:rPr lang="fr-CH"/>
              <a:t>Être conscient des risques liés aux processus automatisés dans le cycle de développement des applications</a:t>
            </a:r>
          </a:p>
          <a:p>
            <a:pPr lvl="1"/>
            <a:r>
              <a:rPr lang="fr-CH"/>
              <a:t>S’assurer que ces processus sont vérifiés et contrôlés régulièrement</a:t>
            </a:r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64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1BC3EFC4-90C2-2DFD-8228-4802197D3EB4}"/>
              </a:ext>
            </a:extLst>
          </p:cNvPr>
          <p:cNvSpPr/>
          <p:nvPr/>
        </p:nvSpPr>
        <p:spPr>
          <a:xfrm>
            <a:off x="0" y="6705600"/>
            <a:ext cx="1037229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011830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9. </a:t>
            </a:r>
            <a:r>
              <a:rPr lang="en-US">
                <a:solidFill>
                  <a:srgbClr val="004595"/>
                </a:solidFill>
              </a:rPr>
              <a:t>Security Logging and Monitoring Failures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5EF9402A-42F9-D95D-1D0B-168F32E6CCDF}"/>
              </a:ext>
            </a:extLst>
          </p:cNvPr>
          <p:cNvSpPr/>
          <p:nvPr/>
        </p:nvSpPr>
        <p:spPr>
          <a:xfrm>
            <a:off x="0" y="6705600"/>
            <a:ext cx="1055426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113583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Echec des logs de sécurité et de surveillance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Selon OWASP,</a:t>
            </a:r>
          </a:p>
          <a:p>
            <a:pPr lvl="1"/>
            <a:r>
              <a:rPr lang="fr-CH"/>
              <a:t>Sans journalisation/</a:t>
            </a:r>
            <a:r>
              <a:rPr lang="fr-CH" err="1"/>
              <a:t>logging</a:t>
            </a:r>
            <a:r>
              <a:rPr lang="fr-CH"/>
              <a:t> et surveillance/monitoring, les failles ne peuvent pas être détectées</a:t>
            </a:r>
          </a:p>
          <a:p>
            <a:r>
              <a:rPr lang="fr-CH"/>
              <a:t>Les problèmes de sécurité sont inévitables</a:t>
            </a:r>
          </a:p>
          <a:p>
            <a:endParaRPr lang="fr-CH"/>
          </a:p>
          <a:p>
            <a:r>
              <a:rPr lang="fr-CH"/>
              <a:t>Mais : </a:t>
            </a:r>
          </a:p>
          <a:p>
            <a:pPr lvl="1"/>
            <a:r>
              <a:rPr lang="fr-CH"/>
              <a:t>Hacker un système prend du temps, ce n’est pas Matrix ou Mr Robot!</a:t>
            </a:r>
          </a:p>
          <a:p>
            <a:pPr lvl="1"/>
            <a:r>
              <a:rPr lang="fr-CH"/>
              <a:t>Il faut un certain nombre d’étapes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66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02E698BF-58C1-40B5-F726-8538FAD1BBFB}"/>
              </a:ext>
            </a:extLst>
          </p:cNvPr>
          <p:cNvSpPr/>
          <p:nvPr/>
        </p:nvSpPr>
        <p:spPr>
          <a:xfrm>
            <a:off x="0" y="6705600"/>
            <a:ext cx="1073623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70557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Echec des logs de sécurité et de surveillance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CH"/>
          </a:p>
          <a:p>
            <a:endParaRPr lang="fr-CH"/>
          </a:p>
          <a:p>
            <a:r>
              <a:rPr lang="fr-CH"/>
              <a:t>Analogie du cambrioleur</a:t>
            </a:r>
          </a:p>
          <a:p>
            <a:endParaRPr lang="fr-CH"/>
          </a:p>
          <a:p>
            <a:r>
              <a:rPr lang="fr-CH"/>
              <a:t>Qu’est-ce qui aurait pu empêcher le cambriolage de continuer?</a:t>
            </a:r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67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02E698BF-58C1-40B5-F726-8538FAD1BBFB}"/>
              </a:ext>
            </a:extLst>
          </p:cNvPr>
          <p:cNvSpPr/>
          <p:nvPr/>
        </p:nvSpPr>
        <p:spPr>
          <a:xfrm>
            <a:off x="0" y="6705600"/>
            <a:ext cx="1073623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32429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Echec des logs de sécurité et de surveillance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fr-CH"/>
          </a:p>
          <a:p>
            <a:endParaRPr lang="fr-CH"/>
          </a:p>
          <a:p>
            <a:r>
              <a:rPr lang="fr-CH"/>
              <a:t>Journaliser et surveiller nous permet de stopper l’attaque</a:t>
            </a:r>
          </a:p>
          <a:p>
            <a:endParaRPr lang="fr-CH"/>
          </a:p>
          <a:p>
            <a:r>
              <a:rPr lang="fr-CH"/>
              <a:t>UK National Cyber Security Center</a:t>
            </a:r>
          </a:p>
          <a:p>
            <a:pPr lvl="1"/>
            <a:r>
              <a:rPr lang="fr-CH"/>
              <a:t>https://www.ncsc.gov.uk/guidance/introduction-logging-security-purposes	</a:t>
            </a:r>
          </a:p>
          <a:p>
            <a:r>
              <a:rPr lang="fr-CH"/>
              <a:t>Exemples</a:t>
            </a:r>
          </a:p>
          <a:p>
            <a:pPr lvl="1"/>
            <a:r>
              <a:rPr lang="fr-CH"/>
              <a:t>Qui a consulté ou téléchargé un fichier spécifique ?</a:t>
            </a:r>
          </a:p>
          <a:p>
            <a:pPr lvl="1"/>
            <a:r>
              <a:rPr lang="fr-CH"/>
              <a:t>Y a-t-il eu des tentatives d’authentification incorrectes ?</a:t>
            </a:r>
          </a:p>
          <a:p>
            <a:pPr lvl="1"/>
            <a:r>
              <a:rPr lang="fr-CH"/>
              <a:t>Qui s’est connecté récemment ?</a:t>
            </a:r>
          </a:p>
          <a:p>
            <a:pPr lvl="1"/>
            <a:r>
              <a:rPr lang="fr-CH"/>
              <a:t>Des événements d’authentification se sont-ils produits à des moments inattendus ou à partir d’emplacements inattendus 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68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02E698BF-58C1-40B5-F726-8538FAD1BBFB}"/>
              </a:ext>
            </a:extLst>
          </p:cNvPr>
          <p:cNvSpPr/>
          <p:nvPr/>
        </p:nvSpPr>
        <p:spPr>
          <a:xfrm>
            <a:off x="0" y="6705600"/>
            <a:ext cx="1073623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519092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Echec des logs de sécurité et de surveillance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Solutions</a:t>
            </a:r>
          </a:p>
          <a:p>
            <a:pPr lvl="1"/>
            <a:r>
              <a:rPr lang="fr-CH"/>
              <a:t>Log, surveillance et alertes</a:t>
            </a:r>
          </a:p>
          <a:p>
            <a:pPr lvl="2"/>
            <a:r>
              <a:rPr lang="fr-CH"/>
              <a:t>Permettent aux équipes chargées de la surveillance de détecter une attaque ou une brèche</a:t>
            </a:r>
          </a:p>
          <a:p>
            <a:pPr lvl="2"/>
            <a:r>
              <a:rPr lang="fr-CH"/>
              <a:t>Permettent aux équipes de stopper l’attaque avant de faire plus de dommage</a:t>
            </a:r>
          </a:p>
          <a:p>
            <a:pPr lvl="2"/>
            <a:endParaRPr lang="fr-CH"/>
          </a:p>
          <a:p>
            <a:pPr lvl="1"/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69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02E698BF-58C1-40B5-F726-8538FAD1BBFB}"/>
              </a:ext>
            </a:extLst>
          </p:cNvPr>
          <p:cNvSpPr/>
          <p:nvPr/>
        </p:nvSpPr>
        <p:spPr>
          <a:xfrm>
            <a:off x="0" y="6705600"/>
            <a:ext cx="10736238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498727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10. </a:t>
            </a:r>
            <a:r>
              <a:rPr lang="fr-CH" dirty="0" err="1">
                <a:solidFill>
                  <a:srgbClr val="004595"/>
                </a:solidFill>
              </a:rPr>
              <a:t>Mishandling</a:t>
            </a:r>
            <a:r>
              <a:rPr lang="fr-CH" dirty="0">
                <a:solidFill>
                  <a:srgbClr val="004595"/>
                </a:solidFill>
              </a:rPr>
              <a:t> of </a:t>
            </a:r>
            <a:r>
              <a:rPr lang="fr-CH" dirty="0" err="1">
                <a:solidFill>
                  <a:srgbClr val="004595"/>
                </a:solidFill>
              </a:rPr>
              <a:t>Exceptional</a:t>
            </a:r>
            <a:r>
              <a:rPr lang="fr-CH" dirty="0">
                <a:solidFill>
                  <a:srgbClr val="004595"/>
                </a:solidFill>
              </a:rPr>
              <a:t> Conditions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8D2F3A2-F0F2-E18F-25A5-F60C5E6ED8AE}"/>
              </a:ext>
            </a:extLst>
          </p:cNvPr>
          <p:cNvSpPr/>
          <p:nvPr/>
        </p:nvSpPr>
        <p:spPr>
          <a:xfrm>
            <a:off x="0" y="6705600"/>
            <a:ext cx="1091820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598817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Falsification des requêtes serveur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SSRF permet à l’attaquant de contraindre l’application d’envoyer une requête à une destination inattendue.</a:t>
            </a:r>
          </a:p>
          <a:p>
            <a:endParaRPr lang="fr-CH"/>
          </a:p>
          <a:p>
            <a:r>
              <a:rPr lang="fr-CH"/>
              <a:t>Cela permet à l’attaquant de se faire passer pour le serveur victime et atteindre des API internes, des bases de données.</a:t>
            </a:r>
          </a:p>
          <a:p>
            <a:endParaRPr lang="fr-CH"/>
          </a:p>
          <a:p>
            <a:r>
              <a:rPr lang="fr-CH"/>
              <a:t>SSRF se produit lorsqu’un serveur veut atteindre des ressources externes, une image par exemple.</a:t>
            </a:r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71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CD7C6C15-B971-7383-E74E-21D0890E2420}"/>
              </a:ext>
            </a:extLst>
          </p:cNvPr>
          <p:cNvSpPr/>
          <p:nvPr/>
        </p:nvSpPr>
        <p:spPr>
          <a:xfrm>
            <a:off x="0" y="6705600"/>
            <a:ext cx="1110017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19576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Falsification des requêtes serveur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Solutions</a:t>
            </a:r>
          </a:p>
          <a:p>
            <a:endParaRPr lang="fr-CH"/>
          </a:p>
          <a:p>
            <a:r>
              <a:rPr lang="fr-CH" err="1"/>
              <a:t>Only-allowed</a:t>
            </a:r>
            <a:r>
              <a:rPr lang="fr-CH"/>
              <a:t> ou not-</a:t>
            </a:r>
            <a:r>
              <a:rPr lang="fr-CH" err="1"/>
              <a:t>Allowed</a:t>
            </a:r>
            <a:r>
              <a:rPr lang="fr-CH"/>
              <a:t> liste doit être appliquée</a:t>
            </a:r>
          </a:p>
          <a:p>
            <a:r>
              <a:rPr lang="fr-CH" err="1"/>
              <a:t>Webapps</a:t>
            </a:r>
            <a:r>
              <a:rPr lang="fr-CH"/>
              <a:t> sont vulnérables aux attaques SSRF</a:t>
            </a:r>
          </a:p>
          <a:p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72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CD7C6C15-B971-7383-E74E-21D0890E2420}"/>
              </a:ext>
            </a:extLst>
          </p:cNvPr>
          <p:cNvSpPr/>
          <p:nvPr/>
        </p:nvSpPr>
        <p:spPr>
          <a:xfrm>
            <a:off x="0" y="6705600"/>
            <a:ext cx="1110017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96239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Activité 2 : reconnaissances et contre-mesures  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433E149-5FBE-F20A-3D60-12729C78D15F}"/>
              </a:ext>
            </a:extLst>
          </p:cNvPr>
          <p:cNvSpPr/>
          <p:nvPr/>
        </p:nvSpPr>
        <p:spPr>
          <a:xfrm>
            <a:off x="0" y="6705600"/>
            <a:ext cx="1128214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595662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 dirty="0"/>
              <a:t>Reconnaissance et contre-mesures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CH" dirty="0"/>
              <a:t>Travail en groupe de deux sur un risque donné du top 10.</a:t>
            </a:r>
          </a:p>
          <a:p>
            <a:r>
              <a:rPr lang="fr-CH" dirty="0"/>
              <a:t>A partir du site https://owasp.org/Top10/2025/ </a:t>
            </a:r>
          </a:p>
          <a:p>
            <a:r>
              <a:rPr lang="fr-CH" dirty="0"/>
              <a:t>Prenez une CWE (</a:t>
            </a:r>
            <a:r>
              <a:rPr lang="fr-CH" dirty="0" err="1"/>
              <a:t>common</a:t>
            </a:r>
            <a:r>
              <a:rPr lang="fr-CH" dirty="0"/>
              <a:t> </a:t>
            </a:r>
            <a:r>
              <a:rPr lang="fr-CH" dirty="0" err="1"/>
              <a:t>weakness</a:t>
            </a:r>
            <a:r>
              <a:rPr lang="fr-CH" dirty="0"/>
              <a:t> </a:t>
            </a:r>
            <a:r>
              <a:rPr lang="fr-CH" dirty="0" err="1"/>
              <a:t>enumeration</a:t>
            </a:r>
            <a:r>
              <a:rPr lang="fr-CH" dirty="0"/>
              <a:t>) liée à votre risque et compléter la présentation.</a:t>
            </a:r>
          </a:p>
          <a:p>
            <a:endParaRPr lang="fr-CH" dirty="0"/>
          </a:p>
          <a:p>
            <a:r>
              <a:rPr lang="fr-CH" dirty="0"/>
              <a:t>A produire :</a:t>
            </a:r>
          </a:p>
          <a:p>
            <a:pPr lvl="1"/>
            <a:r>
              <a:rPr lang="fr-CH" dirty="0"/>
              <a:t>Un document synthétique basé sur le modèle «E-183-ALL-RisqueN.pptx»</a:t>
            </a:r>
          </a:p>
          <a:p>
            <a:pPr lvl="1"/>
            <a:r>
              <a:rPr lang="fr-CH" dirty="0"/>
              <a:t>Vous renommerez le document (</a:t>
            </a:r>
            <a:r>
              <a:rPr lang="fr-CH" dirty="0" err="1"/>
              <a:t>RisqueN</a:t>
            </a:r>
            <a:r>
              <a:rPr lang="fr-CH" dirty="0"/>
              <a:t> sera remplacé par le </a:t>
            </a:r>
            <a:r>
              <a:rPr lang="fr-CH" b="1" dirty="0"/>
              <a:t>nom du risque traité</a:t>
            </a:r>
            <a:r>
              <a:rPr lang="fr-CH" dirty="0"/>
              <a:t>)</a:t>
            </a:r>
          </a:p>
          <a:p>
            <a:pPr lvl="1"/>
            <a:r>
              <a:rPr lang="fr-CH" dirty="0"/>
              <a:t>Présentation à laisser dans Teams</a:t>
            </a:r>
          </a:p>
          <a:p>
            <a:pPr lvl="1"/>
            <a:endParaRPr lang="fr-CH" dirty="0"/>
          </a:p>
          <a:p>
            <a:r>
              <a:rPr lang="fr-CH" dirty="0"/>
              <a:t>Temps à disposition : 30 mn</a:t>
            </a:r>
          </a:p>
          <a:p>
            <a:r>
              <a:rPr lang="fr-CH" dirty="0"/>
              <a:t>Rendu : présentation à la classe (5-7 mn max / risque)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74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035A7EA8-F034-FF7D-91EF-7787F2E19434}"/>
              </a:ext>
            </a:extLst>
          </p:cNvPr>
          <p:cNvSpPr/>
          <p:nvPr/>
        </p:nvSpPr>
        <p:spPr>
          <a:xfrm>
            <a:off x="0" y="6705600"/>
            <a:ext cx="1146412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391761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Activité 3 : Attaques informatiques récentes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333C1F3-FD8A-3F32-AC67-148CAB28B48F}"/>
              </a:ext>
            </a:extLst>
          </p:cNvPr>
          <p:cNvSpPr/>
          <p:nvPr/>
        </p:nvSpPr>
        <p:spPr>
          <a:xfrm>
            <a:off x="0" y="6705600"/>
            <a:ext cx="1164609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84002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Attaques informatiques récentes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Travail individuel</a:t>
            </a:r>
          </a:p>
          <a:p>
            <a:r>
              <a:rPr lang="fr-CH"/>
              <a:t>Trouvez une attaque informatique récente et </a:t>
            </a:r>
            <a:r>
              <a:rPr lang="fr-CH" err="1"/>
              <a:t>notez-la</a:t>
            </a:r>
            <a:r>
              <a:rPr lang="fr-CH"/>
              <a:t> sur un post-it</a:t>
            </a:r>
          </a:p>
          <a:p>
            <a:r>
              <a:rPr lang="fr-CH"/>
              <a:t>Situez cette attaque dans le risque OWASP</a:t>
            </a:r>
          </a:p>
          <a:p>
            <a:r>
              <a:rPr lang="fr-CH"/>
              <a:t>Donnez la cause et quelques conséquences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76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4529FDCF-5710-A864-41EE-D205C928077B}"/>
              </a:ext>
            </a:extLst>
          </p:cNvPr>
          <p:cNvSpPr/>
          <p:nvPr/>
        </p:nvSpPr>
        <p:spPr>
          <a:xfrm>
            <a:off x="0" y="6705600"/>
            <a:ext cx="11828059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3816275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Conclusion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F8056EA6-4727-00D0-2A94-D655FD058B18}"/>
              </a:ext>
            </a:extLst>
          </p:cNvPr>
          <p:cNvSpPr/>
          <p:nvPr/>
        </p:nvSpPr>
        <p:spPr>
          <a:xfrm>
            <a:off x="0" y="6705600"/>
            <a:ext cx="1201003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49993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Mot de la fin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Reprenons vos post-it (activité 1)</a:t>
            </a:r>
          </a:p>
          <a:p>
            <a:r>
              <a:rPr lang="fr-CH"/>
              <a:t>Placez-les dans les catégories du top 10 OWASP</a:t>
            </a:r>
          </a:p>
          <a:p>
            <a:endParaRPr lang="fr-CH"/>
          </a:p>
          <a:p>
            <a:r>
              <a:rPr lang="fr-CH"/>
              <a:t>Qu’avez-vous appris ?</a:t>
            </a:r>
          </a:p>
          <a:p>
            <a:r>
              <a:rPr lang="fr-CH"/>
              <a:t>Quel sentiment avez-vous maintenant 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16.01.2026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78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D95872B9-C29C-04B2-1225-A0F16206C6F5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73064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-module-ALL-sujet.potm" id="{0E4AA291-A3BA-417D-9DDD-704EF9C4C7DF}" vid="{88192150-CEE7-4362-8C4B-420880CAD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2CA962D3BC343BA4881942FCA9ABD" ma:contentTypeVersion="13" ma:contentTypeDescription="Crée un document." ma:contentTypeScope="" ma:versionID="69c7e1234aa399a5294368cedfc9727e">
  <xsd:schema xmlns:xsd="http://www.w3.org/2001/XMLSchema" xmlns:xs="http://www.w3.org/2001/XMLSchema" xmlns:p="http://schemas.microsoft.com/office/2006/metadata/properties" xmlns:ns2="eb2b4dc0-5538-4988-a426-1e3bf3687743" xmlns:ns3="26488081-7094-48e3-a435-bbb366c5709a" targetNamespace="http://schemas.microsoft.com/office/2006/metadata/properties" ma:root="true" ma:fieldsID="f55906f2b711226ab16b0d1a2f445893" ns2:_="" ns3:_="">
    <xsd:import namespace="eb2b4dc0-5538-4988-a426-1e3bf3687743"/>
    <xsd:import namespace="26488081-7094-48e3-a435-bbb366c57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b4dc0-5538-4988-a426-1e3bf36877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8081-7094-48e3-a435-bbb366c5709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d2a550-8a6e-4716-a102-3562047d879a}" ma:internalName="TaxCatchAll" ma:showField="CatchAllData" ma:web="26488081-7094-48e3-a435-bbb366c57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2b4dc0-5538-4988-a426-1e3bf3687743">
      <Terms xmlns="http://schemas.microsoft.com/office/infopath/2007/PartnerControls"/>
    </lcf76f155ced4ddcb4097134ff3c332f>
    <TaxCatchAll xmlns="26488081-7094-48e3-a435-bbb366c5709a" xsi:nil="true"/>
  </documentManagement>
</p:properties>
</file>

<file path=customXml/itemProps1.xml><?xml version="1.0" encoding="utf-8"?>
<ds:datastoreItem xmlns:ds="http://schemas.openxmlformats.org/officeDocument/2006/customXml" ds:itemID="{3E31C3D5-5B46-4E1A-855D-CCA00E784B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F171B6-9387-4C8F-94C4-EE7B60CA7A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b4dc0-5538-4988-a426-1e3bf3687743"/>
    <ds:schemaRef ds:uri="26488081-7094-48e3-a435-bbb366c570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D8083C-3C1C-4888-AB7E-D3C6C1B1DE24}">
  <ds:schemaRefs>
    <ds:schemaRef ds:uri="99ffe1f3-7857-457f-add0-5bdef636f38d"/>
    <ds:schemaRef ds:uri="be0d3259-a7ce-4623-88ec-81594dfcbc1c"/>
    <ds:schemaRef ds:uri="bf2f2df3-a963-4452-b0e7-67dabc627c35"/>
    <ds:schemaRef ds:uri="f7d9f5a6-831d-4621-8c77-cbcaf993e40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http://www.w3.org/XML/1998/namespace"/>
    <ds:schemaRef ds:uri="eb2b4dc0-5538-4988-a426-1e3bf3687743"/>
    <ds:schemaRef ds:uri="26488081-7094-48e3-a435-bbb366c5709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S-module-ALL-sujet</Template>
  <TotalTime>253</TotalTime>
  <Words>4213</Words>
  <Application>Microsoft Office PowerPoint</Application>
  <PresentationFormat>Grand écran</PresentationFormat>
  <Paragraphs>875</Paragraphs>
  <Slides>78</Slides>
  <Notes>73</Notes>
  <HiddenSlides>6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78</vt:i4>
      </vt:variant>
    </vt:vector>
  </HeadingPairs>
  <TitlesOfParts>
    <vt:vector size="87" baseType="lpstr">
      <vt:lpstr>Wingdings</vt:lpstr>
      <vt:lpstr>Helvetica</vt:lpstr>
      <vt:lpstr>Century Gothic</vt:lpstr>
      <vt:lpstr>Daytona Light</vt:lpstr>
      <vt:lpstr>roboto</vt:lpstr>
      <vt:lpstr>Calibri</vt:lpstr>
      <vt:lpstr>Segoe UI</vt:lpstr>
      <vt:lpstr>Arial</vt:lpstr>
      <vt:lpstr>Office Theme</vt:lpstr>
      <vt:lpstr>Présentation PowerPoint</vt:lpstr>
      <vt:lpstr>Présentation PowerPoint</vt:lpstr>
      <vt:lpstr>TOP 10 des risques de sécurité</vt:lpstr>
      <vt:lpstr>Les objectifs</vt:lpstr>
      <vt:lpstr>Les objectifs</vt:lpstr>
      <vt:lpstr>Les objectifs</vt:lpstr>
      <vt:lpstr>Les objectifs</vt:lpstr>
      <vt:lpstr>Un moyen d’éviter les radars</vt:lpstr>
      <vt:lpstr>Activité</vt:lpstr>
      <vt:lpstr>Importance de la sécurité</vt:lpstr>
      <vt:lpstr>OWASP</vt:lpstr>
      <vt:lpstr>OWASP</vt:lpstr>
      <vt:lpstr>Le top 10 version 2025</vt:lpstr>
      <vt:lpstr>Le top 10 version 2025</vt:lpstr>
      <vt:lpstr>Le top 10 version 2025</vt:lpstr>
      <vt:lpstr>Le top 10 version 2025</vt:lpstr>
      <vt:lpstr>Le top 10 version 2025</vt:lpstr>
      <vt:lpstr>Le top 10 version 2025</vt:lpstr>
      <vt:lpstr>Le top 10 version 2025</vt:lpstr>
      <vt:lpstr>Le top 10 version 2025</vt:lpstr>
      <vt:lpstr>Le top 10 version 2025</vt:lpstr>
      <vt:lpstr>Le top 10 version 2025</vt:lpstr>
      <vt:lpstr>Le top 10 version 2025</vt:lpstr>
      <vt:lpstr>Présentation PowerPoint</vt:lpstr>
      <vt:lpstr>Activité 1 : Définitions</vt:lpstr>
      <vt:lpstr>Le top 10</vt:lpstr>
      <vt:lpstr>1. Broken Access Control</vt:lpstr>
      <vt:lpstr>Contrôle d’accès défaillant</vt:lpstr>
      <vt:lpstr>Principe</vt:lpstr>
      <vt:lpstr>Principe</vt:lpstr>
      <vt:lpstr>Principe</vt:lpstr>
      <vt:lpstr>2. Security Misconfiguration</vt:lpstr>
      <vt:lpstr>Mauvaise configuration de sécurité</vt:lpstr>
      <vt:lpstr>3. Software Supply Chain Failures</vt:lpstr>
      <vt:lpstr>Défaillance dans la chaîne d’approvisionnement logicielle</vt:lpstr>
      <vt:lpstr>Défaillance dans la chaîne d’approvisionnement logicielle</vt:lpstr>
      <vt:lpstr>Défaillance dans la chaîne d’approvisionnement logicielle</vt:lpstr>
      <vt:lpstr>4. Cryptographic Failures</vt:lpstr>
      <vt:lpstr>Défaillances cryptographiques</vt:lpstr>
      <vt:lpstr>Défaillances cryptographiques</vt:lpstr>
      <vt:lpstr>Défaillances cryptographiques</vt:lpstr>
      <vt:lpstr>5. Injection</vt:lpstr>
      <vt:lpstr>Injection</vt:lpstr>
      <vt:lpstr>Injection</vt:lpstr>
      <vt:lpstr>Injection SQL</vt:lpstr>
      <vt:lpstr>Injection</vt:lpstr>
      <vt:lpstr>Injection</vt:lpstr>
      <vt:lpstr>Injection : se prémunir</vt:lpstr>
      <vt:lpstr>6. Insecure Design</vt:lpstr>
      <vt:lpstr>Conception non-sécurisée</vt:lpstr>
      <vt:lpstr>Conception non-sécurisée</vt:lpstr>
      <vt:lpstr>Conception non-sécurisée</vt:lpstr>
      <vt:lpstr>Conception non-sécurisée</vt:lpstr>
      <vt:lpstr>Conception non-sécurisée</vt:lpstr>
      <vt:lpstr>Conception non-sécurisée</vt:lpstr>
      <vt:lpstr>Conception non-sécurisée : se prémunir</vt:lpstr>
      <vt:lpstr>7. Authentication Failures</vt:lpstr>
      <vt:lpstr>Echec d’identification ou d’authentification</vt:lpstr>
      <vt:lpstr>Echec d’identification ou d’authentification</vt:lpstr>
      <vt:lpstr>Echec d’identification ou d’authentification</vt:lpstr>
      <vt:lpstr>8. Software and Data Integrity Failures</vt:lpstr>
      <vt:lpstr>Défaillance des logiciels et de l’intégrité de leurs données</vt:lpstr>
      <vt:lpstr>Défaillance des logiciels et de l’intégrité de leurs données</vt:lpstr>
      <vt:lpstr>Défaillance des logiciels et de l’intégrité de leurs données</vt:lpstr>
      <vt:lpstr>9. Security Logging and Monitoring Failures</vt:lpstr>
      <vt:lpstr>Echec des logs de sécurité et de surveillance</vt:lpstr>
      <vt:lpstr>Echec des logs de sécurité et de surveillance</vt:lpstr>
      <vt:lpstr>Echec des logs de sécurité et de surveillance</vt:lpstr>
      <vt:lpstr>Echec des logs de sécurité et de surveillance</vt:lpstr>
      <vt:lpstr>10. Mishandling of Exceptional Conditions</vt:lpstr>
      <vt:lpstr>Falsification des requêtes serveur</vt:lpstr>
      <vt:lpstr>Falsification des requêtes serveur</vt:lpstr>
      <vt:lpstr>Activité 2 : reconnaissances et contre-mesures  </vt:lpstr>
      <vt:lpstr>Reconnaissance et contre-mesures</vt:lpstr>
      <vt:lpstr>Activité 3 : Attaques informatiques récentes</vt:lpstr>
      <vt:lpstr>Attaques informatiques récentes</vt:lpstr>
      <vt:lpstr>Conclusion</vt:lpstr>
      <vt:lpstr>Mot de la 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S-306-GIT</dc:title>
  <dc:creator>Cédric Schaffter</dc:creator>
  <cp:lastModifiedBy>Gaël Sonney</cp:lastModifiedBy>
  <cp:revision>8</cp:revision>
  <dcterms:created xsi:type="dcterms:W3CDTF">2023-07-10T11:31:25Z</dcterms:created>
  <dcterms:modified xsi:type="dcterms:W3CDTF">2026-01-16T14:47:54Z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0x010100BD12CA962D3BC343BA4881942FCA9ABD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